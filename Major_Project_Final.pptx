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1968"/>
        <p:guide pos="408"/>
        <p:guide orient="horz" pos="3912"/>
        <p:guide pos="7272"/>
        <p:guide orient="horz" pos="16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
        <p:cNvGrpSpPr/>
        <p:nvPr/>
      </p:nvGrpSpPr>
      <p:grpSpPr>
        <a:xfrm>
          <a:off x="0" y="0"/>
          <a:ext cx="0" cy="0"/>
          <a:chOff x="0" y="0"/>
          <a:chExt cx="0" cy="0"/>
        </a:xfrm>
      </p:grpSpPr>
      <p:sp>
        <p:nvSpPr>
          <p:cNvPr id="47" name="Google Shape;47;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51" name="Google Shape;51;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3"/>
        <p:cNvGrpSpPr/>
        <p:nvPr/>
      </p:nvGrpSpPr>
      <p:grpSpPr>
        <a:xfrm>
          <a:off x="0" y="0"/>
          <a:ext cx="0" cy="0"/>
          <a:chOff x="0" y="0"/>
          <a:chExt cx="0" cy="0"/>
        </a:xfrm>
      </p:grpSpPr>
      <p:sp>
        <p:nvSpPr>
          <p:cNvPr id="74" name="Google Shape;74;p2"/>
          <p:cNvSpPr txBox="1">
            <a:spLocks noGrp="1"/>
          </p:cNvSpPr>
          <p:nvPr>
            <p:ph type="body" idx="1"/>
          </p:nvPr>
        </p:nvSpPr>
        <p:spPr>
          <a:xfrm>
            <a:off x="6312871" y="4141999"/>
            <a:ext cx="4220700" cy="8616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228600" algn="l" rtl="0">
              <a:spcBef>
                <a:spcPts val="1000"/>
              </a:spcBef>
              <a:spcAft>
                <a:spcPts val="0"/>
              </a:spcAft>
              <a:buSzPts val="1600"/>
              <a:buNone/>
              <a:defRPr sz="2000"/>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75" name="Google Shape;75;p2"/>
          <p:cNvSpPr/>
          <p:nvPr/>
        </p:nvSpPr>
        <p:spPr>
          <a:xfrm>
            <a:off x="740309" y="1382809"/>
            <a:ext cx="1229700" cy="10599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6" name="Google Shape;76;p2"/>
          <p:cNvSpPr/>
          <p:nvPr/>
        </p:nvSpPr>
        <p:spPr>
          <a:xfrm>
            <a:off x="3755031" y="1194620"/>
            <a:ext cx="1666200" cy="1436400"/>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7" name="Google Shape;77;p2"/>
          <p:cNvSpPr/>
          <p:nvPr/>
        </p:nvSpPr>
        <p:spPr>
          <a:xfrm>
            <a:off x="3804994" y="5233183"/>
            <a:ext cx="718200" cy="619200"/>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8" name="Google Shape;78;p2"/>
          <p:cNvSpPr/>
          <p:nvPr/>
        </p:nvSpPr>
        <p:spPr>
          <a:xfrm>
            <a:off x="1837838" y="1101306"/>
            <a:ext cx="651600" cy="561600"/>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Google Shape;79;p2"/>
          <p:cNvSpPr>
            <a:spLocks noGrp="1"/>
          </p:cNvSpPr>
          <p:nvPr>
            <p:ph type="pic" idx="2"/>
          </p:nvPr>
        </p:nvSpPr>
        <p:spPr>
          <a:xfrm>
            <a:off x="1571515" y="1914044"/>
            <a:ext cx="3993600" cy="3617700"/>
          </a:xfrm>
          <a:prstGeom prst="rect">
            <a:avLst/>
          </a:prstGeom>
          <a:noFill/>
          <a:ln>
            <a:noFill/>
          </a:ln>
        </p:spPr>
      </p:sp>
      <p:sp>
        <p:nvSpPr>
          <p:cNvPr id="80" name="Google Shape;80;p2"/>
          <p:cNvSpPr txBox="1">
            <a:spLocks noGrp="1"/>
          </p:cNvSpPr>
          <p:nvPr>
            <p:ph type="title"/>
          </p:nvPr>
        </p:nvSpPr>
        <p:spPr>
          <a:xfrm>
            <a:off x="6312871" y="2050552"/>
            <a:ext cx="4998600" cy="1749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1"/>
        <p:cNvGrpSpPr/>
        <p:nvPr/>
      </p:nvGrpSpPr>
      <p:grpSpPr>
        <a:xfrm>
          <a:off x="0" y="0"/>
          <a:ext cx="0" cy="0"/>
          <a:chOff x="0" y="0"/>
          <a:chExt cx="0" cy="0"/>
        </a:xfrm>
      </p:grpSpPr>
      <p:sp>
        <p:nvSpPr>
          <p:cNvPr id="82" name="Google Shape;82;p3"/>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spcBef>
                <a:spcPts val="1000"/>
              </a:spcBef>
              <a:spcAft>
                <a:spcPts val="0"/>
              </a:spcAft>
              <a:buClr>
                <a:schemeClr val="accent4"/>
              </a:buClr>
              <a:buSzPts val="1600"/>
              <a:buFont typeface="Noto Sans Symbols"/>
              <a:buChar char="▪"/>
              <a:defRPr sz="2000"/>
            </a:lvl1pPr>
            <a:lvl2pPr marL="914400" lvl="1" indent="-320040" algn="l" rtl="0">
              <a:spcBef>
                <a:spcPts val="1000"/>
              </a:spcBef>
              <a:spcAft>
                <a:spcPts val="0"/>
              </a:spcAft>
              <a:buClr>
                <a:schemeClr val="accent4"/>
              </a:buClr>
              <a:buSzPts val="1440"/>
              <a:buFont typeface="Noto Sans Symbols"/>
              <a:buChar char="▪"/>
              <a:defRPr sz="1800"/>
            </a:lvl2pPr>
            <a:lvl3pPr marL="1371600" lvl="2" indent="-309880" algn="l" rtl="0">
              <a:spcBef>
                <a:spcPts val="1000"/>
              </a:spcBef>
              <a:spcAft>
                <a:spcPts val="0"/>
              </a:spcAft>
              <a:buClr>
                <a:schemeClr val="accent4"/>
              </a:buClr>
              <a:buSzPts val="1280"/>
              <a:buFont typeface="Noto Sans Symbols"/>
              <a:buChar char="▪"/>
              <a:defRPr sz="1600"/>
            </a:lvl3pPr>
            <a:lvl4pPr marL="1828800" lvl="3" indent="-309880" algn="l" rtl="0">
              <a:spcBef>
                <a:spcPts val="1000"/>
              </a:spcBef>
              <a:spcAft>
                <a:spcPts val="0"/>
              </a:spcAft>
              <a:buClr>
                <a:schemeClr val="accent4"/>
              </a:buClr>
              <a:buSzPts val="1280"/>
              <a:buFont typeface="Noto Sans Symbols"/>
              <a:buChar char="▪"/>
              <a:defRPr sz="1600"/>
            </a:lvl4pPr>
            <a:lvl5pPr marL="2286000" lvl="4" indent="-309880" algn="l" rtl="0">
              <a:spcBef>
                <a:spcPts val="1000"/>
              </a:spcBef>
              <a:spcAft>
                <a:spcPts val="0"/>
              </a:spcAft>
              <a:buClr>
                <a:schemeClr val="accent4"/>
              </a:buClr>
              <a:buSzPts val="1280"/>
              <a:buFont typeface="Noto Sans Symbols"/>
              <a:buChar char="▪"/>
              <a:defRPr sz="1600"/>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83" name="Google Shape;83;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4" name="Google Shape;84;p3"/>
          <p:cNvSpPr/>
          <p:nvPr/>
        </p:nvSpPr>
        <p:spPr>
          <a:xfrm>
            <a:off x="6692791" y="1699889"/>
            <a:ext cx="319800" cy="319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5" name="Google Shape;85;p3"/>
          <p:cNvSpPr/>
          <p:nvPr/>
        </p:nvSpPr>
        <p:spPr>
          <a:xfrm>
            <a:off x="9354457" y="5897738"/>
            <a:ext cx="180000" cy="180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6" name="Google Shape;86;p3"/>
          <p:cNvSpPr>
            <a:spLocks noGrp="1"/>
          </p:cNvSpPr>
          <p:nvPr>
            <p:ph type="pic" idx="2"/>
          </p:nvPr>
        </p:nvSpPr>
        <p:spPr>
          <a:xfrm>
            <a:off x="7090227" y="786181"/>
            <a:ext cx="4441500" cy="5393100"/>
          </a:xfrm>
          <a:prstGeom prst="rect">
            <a:avLst/>
          </a:prstGeom>
          <a:noFill/>
          <a:ln>
            <a:noFill/>
          </a:ln>
        </p:spPr>
      </p:sp>
      <p:sp>
        <p:nvSpPr>
          <p:cNvPr id="87" name="Google Shape;87;p3"/>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88"/>
        <p:cNvGrpSpPr/>
        <p:nvPr/>
      </p:nvGrpSpPr>
      <p:grpSpPr>
        <a:xfrm>
          <a:off x="0" y="0"/>
          <a:ext cx="0" cy="0"/>
          <a:chOff x="0" y="0"/>
          <a:chExt cx="0" cy="0"/>
        </a:xfrm>
      </p:grpSpPr>
      <p:sp>
        <p:nvSpPr>
          <p:cNvPr id="89" name="Google Shape;89;p4"/>
          <p:cNvSpPr/>
          <p:nvPr/>
        </p:nvSpPr>
        <p:spPr>
          <a:xfrm>
            <a:off x="7362825" y="443263"/>
            <a:ext cx="362100" cy="362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0" name="Google Shape;90;p4"/>
          <p:cNvSpPr/>
          <p:nvPr/>
        </p:nvSpPr>
        <p:spPr>
          <a:xfrm>
            <a:off x="11007246" y="5605994"/>
            <a:ext cx="654300" cy="6543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1" name="Google Shape;91;p4"/>
          <p:cNvSpPr/>
          <p:nvPr/>
        </p:nvSpPr>
        <p:spPr>
          <a:xfrm>
            <a:off x="10683791" y="6132439"/>
            <a:ext cx="251100" cy="2511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2" name="Google Shape;92;p4"/>
          <p:cNvSpPr>
            <a:spLocks noGrp="1"/>
          </p:cNvSpPr>
          <p:nvPr>
            <p:ph type="pic" idx="2"/>
          </p:nvPr>
        </p:nvSpPr>
        <p:spPr>
          <a:xfrm>
            <a:off x="5733416" y="624239"/>
            <a:ext cx="5855700" cy="5631600"/>
          </a:xfrm>
          <a:prstGeom prst="rect">
            <a:avLst/>
          </a:prstGeom>
          <a:noFill/>
          <a:ln>
            <a:noFill/>
          </a:ln>
        </p:spPr>
      </p:sp>
      <p:sp>
        <p:nvSpPr>
          <p:cNvPr id="93" name="Google Shape;93;p4"/>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lnSpc>
                <a:spcPct val="150000"/>
              </a:lnSpc>
              <a:spcBef>
                <a:spcPts val="1000"/>
              </a:spcBef>
              <a:spcAft>
                <a:spcPts val="0"/>
              </a:spcAft>
              <a:buClr>
                <a:schemeClr val="accent4"/>
              </a:buClr>
              <a:buSzPts val="1600"/>
              <a:buFont typeface="Noto Sans Symbols"/>
              <a:buChar char="▪"/>
              <a:defRPr sz="2000"/>
            </a:lvl1pPr>
            <a:lvl2pPr marL="914400" lvl="1" indent="-330200" algn="l" rtl="0">
              <a:spcBef>
                <a:spcPts val="1000"/>
              </a:spcBef>
              <a:spcAft>
                <a:spcPts val="0"/>
              </a:spcAft>
              <a:buClr>
                <a:schemeClr val="accent4"/>
              </a:buClr>
              <a:buSzPts val="1600"/>
              <a:buFont typeface="Noto Sans Symbols"/>
              <a:buChar char="▪"/>
              <a:defRPr sz="2000"/>
            </a:lvl2pPr>
            <a:lvl3pPr marL="1371600" lvl="2" indent="-320040" algn="l" rtl="0">
              <a:spcBef>
                <a:spcPts val="1000"/>
              </a:spcBef>
              <a:spcAft>
                <a:spcPts val="0"/>
              </a:spcAft>
              <a:buClr>
                <a:schemeClr val="accent4"/>
              </a:buClr>
              <a:buSzPts val="1440"/>
              <a:buFont typeface="Noto Sans Symbols"/>
              <a:buChar char="▪"/>
              <a:defRPr sz="1800"/>
            </a:lvl3pPr>
            <a:lvl4pPr marL="1828800" lvl="3" indent="-320040" algn="l" rtl="0">
              <a:spcBef>
                <a:spcPts val="1000"/>
              </a:spcBef>
              <a:spcAft>
                <a:spcPts val="0"/>
              </a:spcAft>
              <a:buClr>
                <a:schemeClr val="accent4"/>
              </a:buClr>
              <a:buSzPts val="1440"/>
              <a:buFont typeface="Noto Sans Symbols"/>
              <a:buChar char="▪"/>
              <a:defRPr sz="1800"/>
            </a:lvl4pPr>
            <a:lvl5pPr marL="2286000" lvl="4" indent="-320040" algn="l" rtl="0">
              <a:spcBef>
                <a:spcPts val="1000"/>
              </a:spcBef>
              <a:spcAft>
                <a:spcPts val="0"/>
              </a:spcAft>
              <a:buClr>
                <a:schemeClr val="accent4"/>
              </a:buClr>
              <a:buSzPts val="1440"/>
              <a:buFont typeface="Noto Sans Symbols"/>
              <a:buChar char="▪"/>
              <a:defRPr sz="1800"/>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94" name="Google Shape;94;p4"/>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95"/>
        <p:cNvGrpSpPr/>
        <p:nvPr/>
      </p:nvGrpSpPr>
      <p:grpSpPr>
        <a:xfrm>
          <a:off x="0" y="0"/>
          <a:ext cx="0" cy="0"/>
          <a:chOff x="0" y="0"/>
          <a:chExt cx="0" cy="0"/>
        </a:xfrm>
      </p:grpSpPr>
      <p:sp>
        <p:nvSpPr>
          <p:cNvPr id="96" name="Google Shape;96;p5"/>
          <p:cNvSpPr>
            <a:spLocks noGrp="1"/>
          </p:cNvSpPr>
          <p:nvPr>
            <p:ph type="pic" idx="2"/>
          </p:nvPr>
        </p:nvSpPr>
        <p:spPr>
          <a:xfrm>
            <a:off x="5353508" y="2555551"/>
            <a:ext cx="1485000" cy="1280100"/>
          </a:xfrm>
          <a:prstGeom prst="rect">
            <a:avLst/>
          </a:prstGeom>
          <a:noFill/>
          <a:ln>
            <a:noFill/>
          </a:ln>
        </p:spPr>
      </p:sp>
      <p:sp>
        <p:nvSpPr>
          <p:cNvPr id="97" name="Google Shape;97;p5"/>
          <p:cNvSpPr>
            <a:spLocks noGrp="1"/>
          </p:cNvSpPr>
          <p:nvPr>
            <p:ph type="pic" idx="3"/>
          </p:nvPr>
        </p:nvSpPr>
        <p:spPr>
          <a:xfrm>
            <a:off x="3115921" y="2555551"/>
            <a:ext cx="1485000" cy="1280100"/>
          </a:xfrm>
          <a:prstGeom prst="rect">
            <a:avLst/>
          </a:prstGeom>
          <a:noFill/>
          <a:ln>
            <a:noFill/>
          </a:ln>
        </p:spPr>
      </p:sp>
      <p:sp>
        <p:nvSpPr>
          <p:cNvPr id="98" name="Google Shape;98;p5"/>
          <p:cNvSpPr>
            <a:spLocks noGrp="1"/>
          </p:cNvSpPr>
          <p:nvPr>
            <p:ph type="pic" idx="4"/>
          </p:nvPr>
        </p:nvSpPr>
        <p:spPr>
          <a:xfrm>
            <a:off x="7602465" y="2555551"/>
            <a:ext cx="1485000" cy="1280100"/>
          </a:xfrm>
          <a:prstGeom prst="rect">
            <a:avLst/>
          </a:prstGeom>
          <a:noFill/>
          <a:ln>
            <a:noFill/>
          </a:ln>
        </p:spPr>
      </p:sp>
      <p:sp>
        <p:nvSpPr>
          <p:cNvPr id="99" name="Google Shape;99;p5"/>
          <p:cNvSpPr>
            <a:spLocks noGrp="1"/>
          </p:cNvSpPr>
          <p:nvPr>
            <p:ph type="pic" idx="5"/>
          </p:nvPr>
        </p:nvSpPr>
        <p:spPr>
          <a:xfrm>
            <a:off x="9840051" y="2555551"/>
            <a:ext cx="1485000" cy="1280100"/>
          </a:xfrm>
          <a:prstGeom prst="rect">
            <a:avLst/>
          </a:prstGeom>
          <a:noFill/>
          <a:ln>
            <a:noFill/>
          </a:ln>
        </p:spPr>
      </p:sp>
      <p:sp>
        <p:nvSpPr>
          <p:cNvPr id="100" name="Google Shape;100;p5"/>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5"/>
          <p:cNvSpPr/>
          <p:nvPr/>
        </p:nvSpPr>
        <p:spPr>
          <a:xfrm>
            <a:off x="546669" y="3467555"/>
            <a:ext cx="458400" cy="3951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2" name="Google Shape;102;p5"/>
          <p:cNvSpPr/>
          <p:nvPr/>
        </p:nvSpPr>
        <p:spPr>
          <a:xfrm>
            <a:off x="11113337" y="2394722"/>
            <a:ext cx="358500" cy="309000"/>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3" name="Google Shape;103;p5"/>
          <p:cNvSpPr/>
          <p:nvPr/>
        </p:nvSpPr>
        <p:spPr>
          <a:xfrm>
            <a:off x="10882649" y="2202202"/>
            <a:ext cx="230700" cy="198900"/>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4" name="Google Shape;104;p5"/>
          <p:cNvSpPr txBox="1">
            <a:spLocks noGrp="1"/>
          </p:cNvSpPr>
          <p:nvPr>
            <p:ph type="body" idx="1"/>
          </p:nvPr>
        </p:nvSpPr>
        <p:spPr>
          <a:xfrm>
            <a:off x="546668"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5" name="Google Shape;105;p5"/>
          <p:cNvSpPr txBox="1">
            <a:spLocks noGrp="1"/>
          </p:cNvSpPr>
          <p:nvPr>
            <p:ph type="body" idx="6"/>
          </p:nvPr>
        </p:nvSpPr>
        <p:spPr>
          <a:xfrm>
            <a:off x="556692"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6" name="Google Shape;106;p5"/>
          <p:cNvSpPr txBox="1">
            <a:spLocks noGrp="1"/>
          </p:cNvSpPr>
          <p:nvPr>
            <p:ph type="body" idx="7"/>
          </p:nvPr>
        </p:nvSpPr>
        <p:spPr>
          <a:xfrm>
            <a:off x="2789482"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7" name="Google Shape;107;p5"/>
          <p:cNvSpPr txBox="1">
            <a:spLocks noGrp="1"/>
          </p:cNvSpPr>
          <p:nvPr>
            <p:ph type="body" idx="8"/>
          </p:nvPr>
        </p:nvSpPr>
        <p:spPr>
          <a:xfrm>
            <a:off x="278948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8" name="Google Shape;108;p5"/>
          <p:cNvSpPr txBox="1">
            <a:spLocks noGrp="1"/>
          </p:cNvSpPr>
          <p:nvPr>
            <p:ph type="body" idx="9"/>
          </p:nvPr>
        </p:nvSpPr>
        <p:spPr>
          <a:xfrm>
            <a:off x="5032296"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9" name="Google Shape;109;p5"/>
          <p:cNvSpPr txBox="1">
            <a:spLocks noGrp="1"/>
          </p:cNvSpPr>
          <p:nvPr>
            <p:ph type="body" idx="13"/>
          </p:nvPr>
        </p:nvSpPr>
        <p:spPr>
          <a:xfrm>
            <a:off x="502920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0" name="Google Shape;110;p5"/>
          <p:cNvSpPr txBox="1">
            <a:spLocks noGrp="1"/>
          </p:cNvSpPr>
          <p:nvPr>
            <p:ph type="body" idx="14"/>
          </p:nvPr>
        </p:nvSpPr>
        <p:spPr>
          <a:xfrm>
            <a:off x="7275110"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1" name="Google Shape;111;p5"/>
          <p:cNvSpPr txBox="1">
            <a:spLocks noGrp="1"/>
          </p:cNvSpPr>
          <p:nvPr>
            <p:ph type="body" idx="15"/>
          </p:nvPr>
        </p:nvSpPr>
        <p:spPr>
          <a:xfrm>
            <a:off x="727511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2" name="Google Shape;112;p5"/>
          <p:cNvSpPr txBox="1">
            <a:spLocks noGrp="1"/>
          </p:cNvSpPr>
          <p:nvPr>
            <p:ph type="body" idx="16"/>
          </p:nvPr>
        </p:nvSpPr>
        <p:spPr>
          <a:xfrm>
            <a:off x="9517923"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3" name="Google Shape;113;p5"/>
          <p:cNvSpPr txBox="1">
            <a:spLocks noGrp="1"/>
          </p:cNvSpPr>
          <p:nvPr>
            <p:ph type="body" idx="17"/>
          </p:nvPr>
        </p:nvSpPr>
        <p:spPr>
          <a:xfrm>
            <a:off x="951792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4" name="Google Shape;114;p5"/>
          <p:cNvSpPr>
            <a:spLocks noGrp="1"/>
          </p:cNvSpPr>
          <p:nvPr>
            <p:ph type="pic" idx="18"/>
          </p:nvPr>
        </p:nvSpPr>
        <p:spPr>
          <a:xfrm>
            <a:off x="878337" y="2555551"/>
            <a:ext cx="1485000" cy="12801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5"/>
        <p:cNvGrpSpPr/>
        <p:nvPr/>
      </p:nvGrpSpPr>
      <p:grpSpPr>
        <a:xfrm>
          <a:off x="0" y="0"/>
          <a:ext cx="0" cy="0"/>
          <a:chOff x="0" y="0"/>
          <a:chExt cx="0" cy="0"/>
        </a:xfrm>
      </p:grpSpPr>
      <p:grpSp>
        <p:nvGrpSpPr>
          <p:cNvPr id="116" name="Google Shape;116;p6"/>
          <p:cNvGrpSpPr/>
          <p:nvPr/>
        </p:nvGrpSpPr>
        <p:grpSpPr>
          <a:xfrm>
            <a:off x="0" y="-8467"/>
            <a:ext cx="12192133" cy="6866580"/>
            <a:chOff x="0" y="-8467"/>
            <a:chExt cx="12192133" cy="6866580"/>
          </a:xfrm>
        </p:grpSpPr>
        <p:sp>
          <p:nvSpPr>
            <p:cNvPr id="117" name="Google Shape;117;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200"/>
              </a:schemeClr>
            </a:solidFill>
            <a:ln>
              <a:noFill/>
            </a:ln>
          </p:spPr>
        </p:sp>
        <p:cxnSp>
          <p:nvCxnSpPr>
            <p:cNvPr id="118" name="Google Shape;118;p6"/>
            <p:cNvCxnSpPr/>
            <p:nvPr/>
          </p:nvCxnSpPr>
          <p:spPr>
            <a:xfrm>
              <a:off x="9371012" y="0"/>
              <a:ext cx="1219200" cy="6858000"/>
            </a:xfrm>
            <a:prstGeom prst="straightConnector1">
              <a:avLst/>
            </a:prstGeom>
            <a:noFill/>
            <a:ln w="9525" cap="flat" cmpd="sng">
              <a:solidFill>
                <a:schemeClr val="accent1">
                  <a:alpha val="70200"/>
                </a:schemeClr>
              </a:solidFill>
              <a:prstDash val="solid"/>
              <a:round/>
              <a:headEnd type="none" w="sm" len="sm"/>
              <a:tailEnd type="none" w="sm" len="sm"/>
            </a:ln>
          </p:spPr>
        </p:cxnSp>
        <p:cxnSp>
          <p:nvCxnSpPr>
            <p:cNvPr id="119" name="Google Shape;119;p6"/>
            <p:cNvCxnSpPr/>
            <p:nvPr/>
          </p:nvCxnSpPr>
          <p:spPr>
            <a:xfrm flipH="1">
              <a:off x="7425125" y="3681413"/>
              <a:ext cx="4763700" cy="3176700"/>
            </a:xfrm>
            <a:prstGeom prst="straightConnector1">
              <a:avLst/>
            </a:prstGeom>
            <a:noFill/>
            <a:ln w="9525" cap="flat" cmpd="sng">
              <a:solidFill>
                <a:schemeClr val="accent1">
                  <a:alpha val="70200"/>
                </a:schemeClr>
              </a:solidFill>
              <a:prstDash val="solid"/>
              <a:round/>
              <a:headEnd type="none" w="sm" len="sm"/>
              <a:tailEnd type="none" w="sm" len="sm"/>
            </a:ln>
          </p:spPr>
        </p:cxnSp>
        <p:sp>
          <p:nvSpPr>
            <p:cNvPr id="120" name="Google Shape;120;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121" name="Google Shape;121;p6"/>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22" name="Google Shape;122;p6"/>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200"/>
              </a:srgbClr>
            </a:solidFill>
            <a:ln>
              <a:noFill/>
            </a:ln>
          </p:spPr>
        </p:sp>
        <p:sp>
          <p:nvSpPr>
            <p:cNvPr id="124" name="Google Shape;124;p6"/>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125" name="Google Shape;125;p6"/>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6" name="Google Shape;126;p6"/>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6"/>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Clr>
                <a:schemeClr val="accent1"/>
              </a:buClr>
              <a:buSzPts val="5400"/>
              <a:buFont typeface="Trebuchet MS"/>
              <a:buNone/>
              <a:defRPr sz="540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6"/>
          <p:cNvSpPr txBox="1">
            <a:spLocks noGrp="1"/>
          </p:cNvSpPr>
          <p:nvPr>
            <p:ph type="subTitle" idx="1"/>
          </p:nvPr>
        </p:nvSpPr>
        <p:spPr>
          <a:xfrm>
            <a:off x="1507067" y="4050833"/>
            <a:ext cx="7767000" cy="1096800"/>
          </a:xfrm>
          <a:prstGeom prst="rect">
            <a:avLst/>
          </a:prstGeom>
          <a:noFill/>
          <a:ln>
            <a:noFill/>
          </a:ln>
        </p:spPr>
        <p:txBody>
          <a:bodyPr spcFirstLastPara="1" wrap="square" lIns="91425" tIns="45700" rIns="91425" bIns="45700" anchor="t" anchorCtr="0">
            <a:normAutofit/>
          </a:bodyPr>
          <a:lstStyle>
            <a:lvl1pPr lvl="0" algn="r" rtl="0">
              <a:spcBef>
                <a:spcPts val="1000"/>
              </a:spcBef>
              <a:spcAft>
                <a:spcPts val="0"/>
              </a:spcAft>
              <a:buSzPts val="1440"/>
              <a:buNone/>
              <a:defRPr>
                <a:solidFill>
                  <a:srgbClr val="7F7F7F"/>
                </a:solidFill>
              </a:defRPr>
            </a:lvl1pPr>
            <a:lvl2pPr lvl="1" algn="ctr" rtl="0">
              <a:spcBef>
                <a:spcPts val="1000"/>
              </a:spcBef>
              <a:spcAft>
                <a:spcPts val="0"/>
              </a:spcAft>
              <a:buSzPts val="1280"/>
              <a:buNone/>
              <a:defRPr>
                <a:solidFill>
                  <a:srgbClr val="888888"/>
                </a:solidFill>
              </a:defRPr>
            </a:lvl2pPr>
            <a:lvl3pPr lvl="2" algn="ctr" rtl="0">
              <a:spcBef>
                <a:spcPts val="1000"/>
              </a:spcBef>
              <a:spcAft>
                <a:spcPts val="0"/>
              </a:spcAft>
              <a:buSzPts val="1120"/>
              <a:buNone/>
              <a:defRPr>
                <a:solidFill>
                  <a:srgbClr val="888888"/>
                </a:solidFill>
              </a:defRPr>
            </a:lvl3pPr>
            <a:lvl4pPr lvl="3" algn="ctr" rtl="0">
              <a:spcBef>
                <a:spcPts val="1000"/>
              </a:spcBef>
              <a:spcAft>
                <a:spcPts val="0"/>
              </a:spcAft>
              <a:buSzPts val="960"/>
              <a:buNone/>
              <a:defRPr>
                <a:solidFill>
                  <a:srgbClr val="888888"/>
                </a:solidFill>
              </a:defRPr>
            </a:lvl4pPr>
            <a:lvl5pPr lvl="4" algn="ctr" rtl="0">
              <a:spcBef>
                <a:spcPts val="1000"/>
              </a:spcBef>
              <a:spcAft>
                <a:spcPts val="0"/>
              </a:spcAft>
              <a:buSzPts val="960"/>
              <a:buNone/>
              <a:defRPr>
                <a:solidFill>
                  <a:srgbClr val="888888"/>
                </a:solidFill>
              </a:defRPr>
            </a:lvl5pPr>
            <a:lvl6pPr lvl="5" algn="ctr" rtl="0">
              <a:spcBef>
                <a:spcPts val="1000"/>
              </a:spcBef>
              <a:spcAft>
                <a:spcPts val="0"/>
              </a:spcAft>
              <a:buSzPts val="960"/>
              <a:buNone/>
              <a:defRPr>
                <a:solidFill>
                  <a:srgbClr val="888888"/>
                </a:solidFill>
              </a:defRPr>
            </a:lvl6pPr>
            <a:lvl7pPr lvl="6" algn="ctr" rtl="0">
              <a:spcBef>
                <a:spcPts val="1000"/>
              </a:spcBef>
              <a:spcAft>
                <a:spcPts val="0"/>
              </a:spcAft>
              <a:buSzPts val="960"/>
              <a:buNone/>
              <a:defRPr>
                <a:solidFill>
                  <a:srgbClr val="888888"/>
                </a:solidFill>
              </a:defRPr>
            </a:lvl7pPr>
            <a:lvl8pPr lvl="7" algn="ctr" rtl="0">
              <a:spcBef>
                <a:spcPts val="1000"/>
              </a:spcBef>
              <a:spcAft>
                <a:spcPts val="0"/>
              </a:spcAft>
              <a:buSzPts val="960"/>
              <a:buNone/>
              <a:defRPr>
                <a:solidFill>
                  <a:srgbClr val="888888"/>
                </a:solidFill>
              </a:defRPr>
            </a:lvl8pPr>
            <a:lvl9pPr lvl="8" algn="ctr" rtl="0">
              <a:spcBef>
                <a:spcPts val="1000"/>
              </a:spcBef>
              <a:spcAft>
                <a:spcPts val="0"/>
              </a:spcAft>
              <a:buSzPts val="960"/>
              <a:buNone/>
              <a:defRPr>
                <a:solidFill>
                  <a:srgbClr val="888888"/>
                </a:solidFill>
              </a:defRPr>
            </a:lvl9pPr>
          </a:lstStyle>
          <a:p>
            <a:endParaRPr/>
          </a:p>
        </p:txBody>
      </p:sp>
      <p:sp>
        <p:nvSpPr>
          <p:cNvPr id="129" name="Google Shape;129;p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0" name="Google Shape;130;p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1" name="Google Shape;131;p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7"/>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35" name="Google Shape;135;p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6" name="Google Shape;136;p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7" name="Google Shape;137;p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77335" y="2700867"/>
            <a:ext cx="8596800" cy="182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000"/>
              <a:buFont typeface="Trebuchet MS"/>
              <a:buNone/>
              <a:defRPr sz="40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8"/>
          <p:cNvSpPr txBox="1">
            <a:spLocks noGrp="1"/>
          </p:cNvSpPr>
          <p:nvPr>
            <p:ph type="body" idx="1"/>
          </p:nvPr>
        </p:nvSpPr>
        <p:spPr>
          <a:xfrm>
            <a:off x="677335" y="4527448"/>
            <a:ext cx="8596800" cy="8604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41" name="Google Shape;141;p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2" name="Google Shape;142;p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 name="Google Shape;143;p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9"/>
          <p:cNvSpPr txBox="1">
            <a:spLocks noGrp="1"/>
          </p:cNvSpPr>
          <p:nvPr>
            <p:ph type="body" idx="1"/>
          </p:nvPr>
        </p:nvSpPr>
        <p:spPr>
          <a:xfrm>
            <a:off x="677334"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7" name="Google Shape;147;p9"/>
          <p:cNvSpPr txBox="1">
            <a:spLocks noGrp="1"/>
          </p:cNvSpPr>
          <p:nvPr>
            <p:ph type="body" idx="2"/>
          </p:nvPr>
        </p:nvSpPr>
        <p:spPr>
          <a:xfrm>
            <a:off x="5089970"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8" name="Google Shape;148;p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9" name="Google Shape;149;p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0" name="Google Shape;150;p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3600"/>
              <a:buFont typeface="Trebuchet MS"/>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0"/>
          <p:cNvSpPr txBox="1">
            <a:spLocks noGrp="1"/>
          </p:cNvSpPr>
          <p:nvPr>
            <p:ph type="body" idx="1"/>
          </p:nvPr>
        </p:nvSpPr>
        <p:spPr>
          <a:xfrm>
            <a:off x="675745"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4" name="Google Shape;154;p10"/>
          <p:cNvSpPr txBox="1">
            <a:spLocks noGrp="1"/>
          </p:cNvSpPr>
          <p:nvPr>
            <p:ph type="body" idx="2"/>
          </p:nvPr>
        </p:nvSpPr>
        <p:spPr>
          <a:xfrm>
            <a:off x="675745"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5" name="Google Shape;155;p10"/>
          <p:cNvSpPr txBox="1">
            <a:spLocks noGrp="1"/>
          </p:cNvSpPr>
          <p:nvPr>
            <p:ph type="body" idx="3"/>
          </p:nvPr>
        </p:nvSpPr>
        <p:spPr>
          <a:xfrm>
            <a:off x="5088383"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6" name="Google Shape;156;p10"/>
          <p:cNvSpPr txBox="1">
            <a:spLocks noGrp="1"/>
          </p:cNvSpPr>
          <p:nvPr>
            <p:ph type="body" idx="4"/>
          </p:nvPr>
        </p:nvSpPr>
        <p:spPr>
          <a:xfrm>
            <a:off x="5088384"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7" name="Google Shape;157;p1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8" name="Google Shape;158;p1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9" name="Google Shape;159;p1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1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2" name="Google Shape;162;p1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3" name="Google Shape;163;p1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4" name="Google Shape;164;p1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5"/>
        <p:cNvGrpSpPr/>
        <p:nvPr/>
      </p:nvGrpSpPr>
      <p:grpSpPr>
        <a:xfrm>
          <a:off x="0" y="0"/>
          <a:ext cx="0" cy="0"/>
          <a:chOff x="0" y="0"/>
          <a:chExt cx="0" cy="0"/>
        </a:xfrm>
      </p:grpSpPr>
      <p:sp>
        <p:nvSpPr>
          <p:cNvPr id="166" name="Google Shape;166;p12"/>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7" name="Google Shape;167;p12"/>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8" name="Google Shape;168;p12"/>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677334" y="1498604"/>
            <a:ext cx="3854400" cy="1278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000"/>
              <a:buFont typeface="Trebuchet MS"/>
              <a:buNone/>
              <a:defRPr sz="200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1" name="Google Shape;171;p13"/>
          <p:cNvSpPr txBox="1">
            <a:spLocks noGrp="1"/>
          </p:cNvSpPr>
          <p:nvPr>
            <p:ph type="body" idx="1"/>
          </p:nvPr>
        </p:nvSpPr>
        <p:spPr>
          <a:xfrm>
            <a:off x="4760461" y="514924"/>
            <a:ext cx="4513500" cy="55263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72" name="Google Shape;172;p13"/>
          <p:cNvSpPr txBox="1">
            <a:spLocks noGrp="1"/>
          </p:cNvSpPr>
          <p:nvPr>
            <p:ph type="body" idx="2"/>
          </p:nvPr>
        </p:nvSpPr>
        <p:spPr>
          <a:xfrm>
            <a:off x="677334" y="2777069"/>
            <a:ext cx="3854400" cy="25845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120"/>
              <a:buNone/>
              <a:defRPr sz="1400"/>
            </a:lvl1pPr>
            <a:lvl2pPr marL="914400" lvl="1" indent="-228600" algn="l" rtl="0">
              <a:spcBef>
                <a:spcPts val="1000"/>
              </a:spcBef>
              <a:spcAft>
                <a:spcPts val="0"/>
              </a:spcAft>
              <a:buSzPts val="1120"/>
              <a:buNone/>
              <a:defRPr sz="1400"/>
            </a:lvl2pPr>
            <a:lvl3pPr marL="1371600" lvl="2" indent="-228600" algn="l" rtl="0">
              <a:spcBef>
                <a:spcPts val="1000"/>
              </a:spcBef>
              <a:spcAft>
                <a:spcPts val="0"/>
              </a:spcAft>
              <a:buSzPts val="960"/>
              <a:buNone/>
              <a:defRPr sz="1200"/>
            </a:lvl3pPr>
            <a:lvl4pPr marL="1828800" lvl="3" indent="-228600" algn="l" rtl="0">
              <a:spcBef>
                <a:spcPts val="1000"/>
              </a:spcBef>
              <a:spcAft>
                <a:spcPts val="0"/>
              </a:spcAft>
              <a:buSzPts val="800"/>
              <a:buNone/>
              <a:defRPr sz="1000"/>
            </a:lvl4pPr>
            <a:lvl5pPr marL="2286000" lvl="4" indent="-228600" algn="l" rtl="0">
              <a:spcBef>
                <a:spcPts val="1000"/>
              </a:spcBef>
              <a:spcAft>
                <a:spcPts val="0"/>
              </a:spcAft>
              <a:buSzPts val="800"/>
              <a:buNone/>
              <a:defRPr sz="1000"/>
            </a:lvl5pPr>
            <a:lvl6pPr marL="2743200" lvl="5" indent="-228600" algn="l" rtl="0">
              <a:spcBef>
                <a:spcPts val="1000"/>
              </a:spcBef>
              <a:spcAft>
                <a:spcPts val="0"/>
              </a:spcAft>
              <a:buSzPts val="800"/>
              <a:buNone/>
              <a:defRPr sz="1000"/>
            </a:lvl6pPr>
            <a:lvl7pPr marL="3200400" lvl="6" indent="-228600" algn="l" rtl="0">
              <a:spcBef>
                <a:spcPts val="1000"/>
              </a:spcBef>
              <a:spcAft>
                <a:spcPts val="0"/>
              </a:spcAft>
              <a:buSzPts val="800"/>
              <a:buNone/>
              <a:defRPr sz="1000"/>
            </a:lvl7pPr>
            <a:lvl8pPr marL="3657600" lvl="7" indent="-228600" algn="l" rtl="0">
              <a:spcBef>
                <a:spcPts val="1000"/>
              </a:spcBef>
              <a:spcAft>
                <a:spcPts val="0"/>
              </a:spcAft>
              <a:buSzPts val="800"/>
              <a:buNone/>
              <a:defRPr sz="1000"/>
            </a:lvl8pPr>
            <a:lvl9pPr marL="4114800" lvl="8" indent="-228600" algn="l" rtl="0">
              <a:spcBef>
                <a:spcPts val="1000"/>
              </a:spcBef>
              <a:spcAft>
                <a:spcPts val="0"/>
              </a:spcAft>
              <a:buSzPts val="800"/>
              <a:buNone/>
              <a:defRPr sz="1000"/>
            </a:lvl9pPr>
          </a:lstStyle>
          <a:p>
            <a:endParaRPr/>
          </a:p>
        </p:txBody>
      </p:sp>
      <p:sp>
        <p:nvSpPr>
          <p:cNvPr id="173" name="Google Shape;173;p13"/>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4" name="Google Shape;174;p13"/>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5" name="Google Shape;175;p13"/>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677334" y="4800600"/>
            <a:ext cx="85968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400"/>
              <a:buFont typeface="Trebuchet MS"/>
              <a:buNone/>
              <a:defRPr sz="24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8" name="Google Shape;178;p14"/>
          <p:cNvSpPr>
            <a:spLocks noGrp="1"/>
          </p:cNvSpPr>
          <p:nvPr>
            <p:ph type="pic" idx="2"/>
          </p:nvPr>
        </p:nvSpPr>
        <p:spPr>
          <a:xfrm>
            <a:off x="677334" y="609600"/>
            <a:ext cx="8596800" cy="3845700"/>
          </a:xfrm>
          <a:prstGeom prst="rect">
            <a:avLst/>
          </a:prstGeom>
          <a:noFill/>
          <a:ln>
            <a:noFill/>
          </a:ln>
        </p:spPr>
      </p:sp>
      <p:sp>
        <p:nvSpPr>
          <p:cNvPr id="179" name="Google Shape;179;p14"/>
          <p:cNvSpPr txBox="1">
            <a:spLocks noGrp="1"/>
          </p:cNvSpPr>
          <p:nvPr>
            <p:ph type="body" idx="1"/>
          </p:nvPr>
        </p:nvSpPr>
        <p:spPr>
          <a:xfrm>
            <a:off x="677334" y="5367338"/>
            <a:ext cx="8596800" cy="6741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960"/>
              <a:buNone/>
              <a:defRPr sz="1200"/>
            </a:lvl1pPr>
            <a:lvl2pPr marL="914400" lvl="1" indent="-228600" algn="l" rtl="0">
              <a:spcBef>
                <a:spcPts val="1000"/>
              </a:spcBef>
              <a:spcAft>
                <a:spcPts val="0"/>
              </a:spcAft>
              <a:buSzPts val="960"/>
              <a:buNone/>
              <a:defRPr sz="1200"/>
            </a:lvl2pPr>
            <a:lvl3pPr marL="1371600" lvl="2" indent="-228600" algn="l" rtl="0">
              <a:spcBef>
                <a:spcPts val="1000"/>
              </a:spcBef>
              <a:spcAft>
                <a:spcPts val="0"/>
              </a:spcAft>
              <a:buSzPts val="800"/>
              <a:buNone/>
              <a:defRPr sz="1000"/>
            </a:lvl3pPr>
            <a:lvl4pPr marL="1828800" lvl="3" indent="-228600" algn="l" rtl="0">
              <a:spcBef>
                <a:spcPts val="1000"/>
              </a:spcBef>
              <a:spcAft>
                <a:spcPts val="0"/>
              </a:spcAft>
              <a:buSzPts val="720"/>
              <a:buNone/>
              <a:defRPr sz="900"/>
            </a:lvl4pPr>
            <a:lvl5pPr marL="2286000" lvl="4" indent="-228600" algn="l" rtl="0">
              <a:spcBef>
                <a:spcPts val="1000"/>
              </a:spcBef>
              <a:spcAft>
                <a:spcPts val="0"/>
              </a:spcAft>
              <a:buSzPts val="720"/>
              <a:buNone/>
              <a:defRPr sz="900"/>
            </a:lvl5pPr>
            <a:lvl6pPr marL="2743200" lvl="5" indent="-228600" algn="l" rtl="0">
              <a:spcBef>
                <a:spcPts val="1000"/>
              </a:spcBef>
              <a:spcAft>
                <a:spcPts val="0"/>
              </a:spcAft>
              <a:buSzPts val="720"/>
              <a:buNone/>
              <a:defRPr sz="900"/>
            </a:lvl6pPr>
            <a:lvl7pPr marL="3200400" lvl="6" indent="-228600" algn="l" rtl="0">
              <a:spcBef>
                <a:spcPts val="1000"/>
              </a:spcBef>
              <a:spcAft>
                <a:spcPts val="0"/>
              </a:spcAft>
              <a:buSzPts val="720"/>
              <a:buNone/>
              <a:defRPr sz="900"/>
            </a:lvl7pPr>
            <a:lvl8pPr marL="3657600" lvl="7" indent="-228600" algn="l" rtl="0">
              <a:spcBef>
                <a:spcPts val="1000"/>
              </a:spcBef>
              <a:spcAft>
                <a:spcPts val="0"/>
              </a:spcAft>
              <a:buSzPts val="720"/>
              <a:buNone/>
              <a:defRPr sz="900"/>
            </a:lvl8pPr>
            <a:lvl9pPr marL="4114800" lvl="8" indent="-228600" algn="l" rtl="0">
              <a:spcBef>
                <a:spcPts val="1000"/>
              </a:spcBef>
              <a:spcAft>
                <a:spcPts val="0"/>
              </a:spcAft>
              <a:buSzPts val="720"/>
              <a:buNone/>
              <a:defRPr sz="900"/>
            </a:lvl9pPr>
          </a:lstStyle>
          <a:p>
            <a:endParaRPr/>
          </a:p>
        </p:txBody>
      </p:sp>
      <p:sp>
        <p:nvSpPr>
          <p:cNvPr id="180" name="Google Shape;180;p14"/>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1" name="Google Shape;181;p14"/>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14"/>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677335" y="609600"/>
            <a:ext cx="8596800" cy="3403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5" name="Google Shape;185;p15"/>
          <p:cNvSpPr txBox="1">
            <a:spLocks noGrp="1"/>
          </p:cNvSpPr>
          <p:nvPr>
            <p:ph type="body" idx="1"/>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86" name="Google Shape;186;p15"/>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7" name="Google Shape;187;p15"/>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8" name="Google Shape;188;p15"/>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1" name="Google Shape;191;p16"/>
          <p:cNvSpPr txBox="1">
            <a:spLocks noGrp="1"/>
          </p:cNvSpPr>
          <p:nvPr>
            <p:ph type="body" idx="1"/>
          </p:nvPr>
        </p:nvSpPr>
        <p:spPr>
          <a:xfrm>
            <a:off x="1366139"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l" rtl="0">
              <a:spcBef>
                <a:spcPts val="1000"/>
              </a:spcBef>
              <a:spcAft>
                <a:spcPts val="0"/>
              </a:spcAft>
              <a:buSzPts val="1280"/>
              <a:buFont typeface="Trebuchet MS"/>
              <a:buNone/>
              <a:defRPr sz="1600">
                <a:solidFill>
                  <a:srgbClr val="7F7F7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92" name="Google Shape;192;p16"/>
          <p:cNvSpPr txBox="1">
            <a:spLocks noGrp="1"/>
          </p:cNvSpPr>
          <p:nvPr>
            <p:ph type="body" idx="2"/>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93" name="Google Shape;193;p1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4" name="Google Shape;194;p1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1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6" name="Google Shape;196;p16"/>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97" name="Google Shape;197;p16"/>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677335" y="1931988"/>
            <a:ext cx="8596800" cy="2595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0" name="Google Shape;200;p17"/>
          <p:cNvSpPr txBox="1">
            <a:spLocks noGrp="1"/>
          </p:cNvSpPr>
          <p:nvPr>
            <p:ph type="body" idx="1"/>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1" name="Google Shape;201;p1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2" name="Google Shape;202;p1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3" name="Google Shape;203;p1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6" name="Google Shape;206;p18"/>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rgbClr val="3F3F3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07" name="Google Shape;207;p18"/>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8" name="Google Shape;208;p1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9" name="Google Shape;209;p1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0" name="Google Shape;210;p1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1" name="Google Shape;211;p18"/>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212" name="Google Shape;212;p18"/>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213"/>
        <p:cNvGrpSpPr/>
        <p:nvPr/>
      </p:nvGrpSpPr>
      <p:grpSpPr>
        <a:xfrm>
          <a:off x="0" y="0"/>
          <a:ext cx="0" cy="0"/>
          <a:chOff x="0" y="0"/>
          <a:chExt cx="0" cy="0"/>
        </a:xfrm>
      </p:grpSpPr>
      <p:sp>
        <p:nvSpPr>
          <p:cNvPr id="214" name="Google Shape;214;p19"/>
          <p:cNvSpPr txBox="1">
            <a:spLocks noGrp="1"/>
          </p:cNvSpPr>
          <p:nvPr>
            <p:ph type="title"/>
          </p:nvPr>
        </p:nvSpPr>
        <p:spPr>
          <a:xfrm>
            <a:off x="685799" y="609600"/>
            <a:ext cx="85881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5" name="Google Shape;215;p19"/>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chemeClr val="accent1"/>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16" name="Google Shape;216;p19"/>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17" name="Google Shape;217;p1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8" name="Google Shape;218;p1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1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0"/>
        <p:cNvGrpSpPr/>
        <p:nvPr/>
      </p:nvGrpSpPr>
      <p:grpSpPr>
        <a:xfrm>
          <a:off x="0" y="0"/>
          <a:ext cx="0" cy="0"/>
          <a:chOff x="0" y="0"/>
          <a:chExt cx="0" cy="0"/>
        </a:xfrm>
      </p:grpSpPr>
      <p:sp>
        <p:nvSpPr>
          <p:cNvPr id="221" name="Google Shape;221;p2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2" name="Google Shape;222;p20"/>
          <p:cNvSpPr txBox="1">
            <a:spLocks noGrp="1"/>
          </p:cNvSpPr>
          <p:nvPr>
            <p:ph type="body" idx="1"/>
          </p:nvPr>
        </p:nvSpPr>
        <p:spPr>
          <a:xfrm rot="5400000">
            <a:off x="3035202" y="-197411"/>
            <a:ext cx="3880800" cy="8596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3" name="Google Shape;223;p2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4" name="Google Shape;224;p2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5" name="Google Shape;225;p2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rot="5400000">
            <a:off x="5994316" y="2582999"/>
            <a:ext cx="5251500" cy="13047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8" name="Google Shape;228;p21"/>
          <p:cNvSpPr txBox="1">
            <a:spLocks noGrp="1"/>
          </p:cNvSpPr>
          <p:nvPr>
            <p:ph type="body" idx="1"/>
          </p:nvPr>
        </p:nvSpPr>
        <p:spPr>
          <a:xfrm rot="5400000">
            <a:off x="1581635" y="-294750"/>
            <a:ext cx="5251500" cy="7060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9" name="Google Shape;229;p2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0" name="Google Shape;230;p2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1" name="Google Shape;231;p2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232"/>
        <p:cNvGrpSpPr/>
        <p:nvPr/>
      </p:nvGrpSpPr>
      <p:grpSpPr>
        <a:xfrm>
          <a:off x="0" y="0"/>
          <a:ext cx="0" cy="0"/>
          <a:chOff x="0" y="0"/>
          <a:chExt cx="0" cy="0"/>
        </a:xfrm>
      </p:grpSpPr>
      <p:sp>
        <p:nvSpPr>
          <p:cNvPr id="233" name="Google Shape;233;p22"/>
          <p:cNvSpPr>
            <a:spLocks noGrp="1"/>
          </p:cNvSpPr>
          <p:nvPr>
            <p:ph type="pic" idx="2"/>
          </p:nvPr>
        </p:nvSpPr>
        <p:spPr>
          <a:xfrm>
            <a:off x="0" y="0"/>
            <a:ext cx="12192000" cy="6858000"/>
          </a:xfrm>
          <a:prstGeom prst="rect">
            <a:avLst/>
          </a:prstGeom>
          <a:noFill/>
          <a:ln>
            <a:noFill/>
          </a:ln>
        </p:spPr>
      </p:sp>
      <p:sp>
        <p:nvSpPr>
          <p:cNvPr id="234" name="Google Shape;234;p22" descr="Tall office building looking up"/>
          <p:cNvSpPr/>
          <p:nvPr/>
        </p:nvSpPr>
        <p:spPr>
          <a:xfrm>
            <a:off x="3718560" y="1181123"/>
            <a:ext cx="4755000" cy="4495800"/>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5" name="Google Shape;235;p22"/>
          <p:cNvSpPr txBox="1">
            <a:spLocks noGrp="1"/>
          </p:cNvSpPr>
          <p:nvPr>
            <p:ph type="body" idx="1"/>
          </p:nvPr>
        </p:nvSpPr>
        <p:spPr>
          <a:xfrm>
            <a:off x="4149139" y="4859469"/>
            <a:ext cx="3924900" cy="490500"/>
          </a:xfrm>
          <a:prstGeom prst="rect">
            <a:avLst/>
          </a:prstGeom>
          <a:noFill/>
          <a:ln>
            <a:noFill/>
          </a:ln>
        </p:spPr>
        <p:txBody>
          <a:bodyPr spcFirstLastPara="1" wrap="square" lIns="91425" tIns="45700" rIns="91425" bIns="45700" anchor="t" anchorCtr="0">
            <a:normAutofit/>
          </a:bodyPr>
          <a:lstStyle>
            <a:lvl1pPr marL="457200" lvl="0" indent="-228600" algn="r" rtl="0">
              <a:spcBef>
                <a:spcPts val="1000"/>
              </a:spcBef>
              <a:spcAft>
                <a:spcPts val="0"/>
              </a:spcAft>
              <a:buSzPts val="1920"/>
              <a:buNone/>
              <a:defRPr sz="2400" b="1">
                <a:solidFill>
                  <a:schemeClr val="accent4"/>
                </a:solidFill>
                <a:latin typeface="Calibri"/>
                <a:ea typeface="Calibri"/>
                <a:cs typeface="Calibri"/>
                <a:sym typeface="Calibri"/>
              </a:defRPr>
            </a:lvl1pPr>
            <a:lvl2pPr marL="914400" lvl="1" indent="-228600" algn="l" rtl="0">
              <a:spcBef>
                <a:spcPts val="1000"/>
              </a:spcBef>
              <a:spcAft>
                <a:spcPts val="0"/>
              </a:spcAft>
              <a:buSzPts val="1280"/>
              <a:buNone/>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36" name="Google Shape;236;p22"/>
          <p:cNvSpPr txBox="1">
            <a:spLocks noGrp="1"/>
          </p:cNvSpPr>
          <p:nvPr>
            <p:ph type="title"/>
          </p:nvPr>
        </p:nvSpPr>
        <p:spPr>
          <a:xfrm>
            <a:off x="4149139" y="1529685"/>
            <a:ext cx="3924900" cy="1695600"/>
          </a:xfrm>
          <a:prstGeom prst="rect">
            <a:avLst/>
          </a:prstGeom>
          <a:noFill/>
          <a:ln>
            <a:noFill/>
          </a:ln>
        </p:spPr>
        <p:txBody>
          <a:bodyPr spcFirstLastPara="1" wrap="square" lIns="91425" tIns="45700" rIns="91425" bIns="45700" anchor="t" anchorCtr="0">
            <a:normAutofit/>
          </a:bodyPr>
          <a:lstStyle>
            <a:lvl1pPr lvl="0" algn="l" rtl="0">
              <a:spcBef>
                <a:spcPts val="1000"/>
              </a:spcBef>
              <a:spcAft>
                <a:spcPts val="0"/>
              </a:spcAft>
              <a:buClr>
                <a:schemeClr val="lt1"/>
              </a:buClr>
              <a:buSzPts val="4800"/>
              <a:buFont typeface="Trebuchet MS"/>
              <a:buNone/>
              <a:defRPr sz="4800" b="1">
                <a:solidFill>
                  <a:schemeClr val="l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grpSp>
        <p:nvGrpSpPr>
          <p:cNvPr id="54" name="Google Shape;54;p1"/>
          <p:cNvGrpSpPr/>
          <p:nvPr/>
        </p:nvGrpSpPr>
        <p:grpSpPr>
          <a:xfrm>
            <a:off x="0" y="-8467"/>
            <a:ext cx="12192133" cy="6866580"/>
            <a:chOff x="0" y="-8467"/>
            <a:chExt cx="12192133" cy="6866580"/>
          </a:xfrm>
        </p:grpSpPr>
        <p:cxnSp>
          <p:nvCxnSpPr>
            <p:cNvPr id="55" name="Google Shape;55;p1"/>
            <p:cNvCxnSpPr/>
            <p:nvPr/>
          </p:nvCxnSpPr>
          <p:spPr>
            <a:xfrm>
              <a:off x="9371012" y="0"/>
              <a:ext cx="1219200" cy="6858000"/>
            </a:xfrm>
            <a:prstGeom prst="straightConnector1">
              <a:avLst/>
            </a:prstGeom>
            <a:noFill/>
            <a:ln w="9525" cap="flat" cmpd="sng">
              <a:solidFill>
                <a:schemeClr val="accent1">
                  <a:alpha val="70200"/>
                </a:schemeClr>
              </a:solidFill>
              <a:prstDash val="solid"/>
              <a:round/>
              <a:headEnd type="none" w="sm" len="sm"/>
              <a:tailEnd type="none" w="sm" len="sm"/>
            </a:ln>
          </p:spPr>
        </p:cxnSp>
        <p:cxnSp>
          <p:nvCxnSpPr>
            <p:cNvPr id="56" name="Google Shape;56;p1"/>
            <p:cNvCxnSpPr/>
            <p:nvPr/>
          </p:nvCxnSpPr>
          <p:spPr>
            <a:xfrm flipH="1">
              <a:off x="7425125" y="3681413"/>
              <a:ext cx="4763700" cy="3176700"/>
            </a:xfrm>
            <a:prstGeom prst="straightConnector1">
              <a:avLst/>
            </a:prstGeom>
            <a:noFill/>
            <a:ln w="9525" cap="flat" cmpd="sng">
              <a:solidFill>
                <a:schemeClr val="accent1">
                  <a:alpha val="70200"/>
                </a:schemeClr>
              </a:solidFill>
              <a:prstDash val="solid"/>
              <a:round/>
              <a:headEnd type="none" w="sm" len="sm"/>
              <a:tailEnd type="none" w="sm" len="sm"/>
            </a:ln>
          </p:spPr>
        </p:cxnSp>
        <p:sp>
          <p:nvSpPr>
            <p:cNvPr id="57" name="Google Shape;57;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58" name="Google Shape;58;p1"/>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9" name="Google Shape;59;p1"/>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200"/>
              </a:srgbClr>
            </a:solidFill>
            <a:ln>
              <a:noFill/>
            </a:ln>
          </p:spPr>
        </p:sp>
        <p:sp>
          <p:nvSpPr>
            <p:cNvPr id="61" name="Google Shape;61;p1"/>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62" name="Google Shape;62;p1"/>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3" name="Google Shape;63;p1"/>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0" y="4013200"/>
              <a:ext cx="448800" cy="2844900"/>
            </a:xfrm>
            <a:prstGeom prst="triangle">
              <a:avLst>
                <a:gd name="adj" fmla="val 0"/>
              </a:avLst>
            </a:prstGeom>
            <a:solidFill>
              <a:schemeClr val="accent1">
                <a:alpha val="702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66" name="Google Shape;66;p1"/>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67" name="Google Shape;67;p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8" name="Google Shape;68;p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9" name="Google Shape;69;p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1"/>
          <p:cNvSpPr txBox="1"/>
          <p:nvPr/>
        </p:nvSpPr>
        <p:spPr>
          <a:xfrm>
            <a:off x="660396" y="6378906"/>
            <a:ext cx="27432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accent2"/>
                </a:solidFill>
                <a:latin typeface="Trebuchet MS"/>
                <a:ea typeface="Trebuchet MS"/>
                <a:cs typeface="Trebuchet MS"/>
                <a:sym typeface="Trebuchet MS"/>
              </a:rPr>
              <a:t>9/3/2026</a:t>
            </a:r>
            <a:endParaRPr sz="1100" b="0" i="0" u="none" strike="noStrike" cap="none">
              <a:solidFill>
                <a:schemeClr val="accent2"/>
              </a:solidFill>
              <a:latin typeface="Trebuchet MS"/>
              <a:ea typeface="Trebuchet MS"/>
              <a:cs typeface="Trebuchet MS"/>
              <a:sym typeface="Trebuchet MS"/>
            </a:endParaRPr>
          </a:p>
        </p:txBody>
      </p:sp>
      <p:sp>
        <p:nvSpPr>
          <p:cNvPr id="71" name="Google Shape;71;p1"/>
          <p:cNvSpPr txBox="1"/>
          <p:nvPr/>
        </p:nvSpPr>
        <p:spPr>
          <a:xfrm>
            <a:off x="1445526" y="6378906"/>
            <a:ext cx="41148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a:ea typeface="Trebuchet MS"/>
                <a:cs typeface="Trebuchet MS"/>
                <a:sym typeface="Trebuchet MS"/>
              </a:rPr>
              <a:t>Annual Review</a:t>
            </a:r>
            <a:endParaRPr/>
          </a:p>
        </p:txBody>
      </p:sp>
      <p:sp>
        <p:nvSpPr>
          <p:cNvPr id="72" name="Google Shape;72;p1"/>
          <p:cNvSpPr txBox="1"/>
          <p:nvPr/>
        </p:nvSpPr>
        <p:spPr>
          <a:xfrm>
            <a:off x="8805338" y="6378906"/>
            <a:ext cx="27432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a:ea typeface="Trebuchet MS"/>
                <a:cs typeface="Trebuchet MS"/>
                <a:sym typeface="Trebuchet MS"/>
              </a:rPr>
              <a:t>‹#›</a:t>
            </a:fld>
            <a:endParaRPr sz="1100" b="0" i="0" u="none" strike="noStrike" cap="none">
              <a:solidFill>
                <a:schemeClr val="accent4"/>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body" idx="1"/>
          </p:nvPr>
        </p:nvSpPr>
        <p:spPr>
          <a:xfrm>
            <a:off x="685800" y="3583914"/>
            <a:ext cx="4240161" cy="9500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600"/>
              <a:buNone/>
            </a:pPr>
            <a:r>
              <a:rPr lang="en-US" b="0" dirty="0">
                <a:solidFill>
                  <a:schemeClr val="dk1"/>
                </a:solidFill>
              </a:rPr>
              <a:t>Krish </a:t>
            </a:r>
            <a:endParaRPr b="0" dirty="0">
              <a:solidFill>
                <a:schemeClr val="dk1"/>
              </a:solidFill>
            </a:endParaRPr>
          </a:p>
          <a:p>
            <a:pPr marL="0" lvl="0" indent="0" algn="ctr" rtl="0">
              <a:spcBef>
                <a:spcPts val="1000"/>
              </a:spcBef>
              <a:spcAft>
                <a:spcPts val="0"/>
              </a:spcAft>
              <a:buSzPts val="1600"/>
              <a:buNone/>
            </a:pPr>
            <a:r>
              <a:rPr lang="en-US" b="0" dirty="0" err="1">
                <a:solidFill>
                  <a:schemeClr val="dk1"/>
                </a:solidFill>
              </a:rPr>
              <a:t>Rajkiya</a:t>
            </a:r>
            <a:r>
              <a:rPr lang="en-US" b="0" dirty="0">
                <a:solidFill>
                  <a:schemeClr val="dk1"/>
                </a:solidFill>
              </a:rPr>
              <a:t> Engineering College, Banda</a:t>
            </a:r>
            <a:endParaRPr b="0" dirty="0">
              <a:solidFill>
                <a:schemeClr val="dk1"/>
              </a:solidFill>
            </a:endParaRPr>
          </a:p>
        </p:txBody>
      </p:sp>
      <p:sp>
        <p:nvSpPr>
          <p:cNvPr id="242" name="Google Shape;242;p23"/>
          <p:cNvSpPr txBox="1">
            <a:spLocks noGrp="1"/>
          </p:cNvSpPr>
          <p:nvPr>
            <p:ph type="title"/>
          </p:nvPr>
        </p:nvSpPr>
        <p:spPr>
          <a:xfrm>
            <a:off x="685800" y="2840514"/>
            <a:ext cx="9153894" cy="74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dirty="0"/>
              <a:t>Seasonal Agriculture Performance Analysis</a:t>
            </a:r>
            <a:endParaRPr sz="3200" dirty="0"/>
          </a:p>
        </p:txBody>
      </p:sp>
      <p:sp>
        <p:nvSpPr>
          <p:cNvPr id="243" name="Google Shape;243;p23"/>
          <p:cNvSpPr txBox="1"/>
          <p:nvPr/>
        </p:nvSpPr>
        <p:spPr>
          <a:xfrm>
            <a:off x="6754762" y="2722314"/>
            <a:ext cx="3312300" cy="8616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920"/>
              <a:buFont typeface="Noto Sans Symbols"/>
              <a:buNone/>
            </a:pPr>
            <a:endParaRPr sz="2400" b="1" i="0" u="none" strike="noStrike" cap="none">
              <a:solidFill>
                <a:schemeClr val="accent4"/>
              </a:solidFill>
              <a:latin typeface="Trebuchet MS"/>
              <a:ea typeface="Trebuchet MS"/>
              <a:cs typeface="Trebuchet MS"/>
              <a:sym typeface="Trebuchet MS"/>
            </a:endParaRPr>
          </a:p>
        </p:txBody>
      </p:sp>
      <p:pic>
        <p:nvPicPr>
          <p:cNvPr id="244" name="Google Shape;244;p2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45" name="Google Shape;245;p23"/>
          <p:cNvSpPr txBox="1"/>
          <p:nvPr/>
        </p:nvSpPr>
        <p:spPr>
          <a:xfrm>
            <a:off x="957406" y="4576469"/>
            <a:ext cx="5443394"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Trebuchet MS"/>
                <a:ea typeface="Trebuchet MS"/>
                <a:cs typeface="Trebuchet MS"/>
                <a:sym typeface="Trebuchet MS"/>
              </a:rPr>
              <a:t>AICTE STU ID : STU6888a7b39f8c21753786291</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000"/>
                                        <p:tgtEl>
                                          <p:spTgt spid="242"/>
                                        </p:tgtEl>
                                      </p:cBhvr>
                                    </p:animEffect>
                                    <p:anim calcmode="lin" valueType="num">
                                      <p:cBhvr>
                                        <p:cTn id="8" dur="1000" fill="hold"/>
                                        <p:tgtEl>
                                          <p:spTgt spid="242"/>
                                        </p:tgtEl>
                                        <p:attrNameLst>
                                          <p:attrName>ppt_x</p:attrName>
                                        </p:attrNameLst>
                                      </p:cBhvr>
                                      <p:tavLst>
                                        <p:tav tm="0">
                                          <p:val>
                                            <p:strVal val="#ppt_x"/>
                                          </p:val>
                                        </p:tav>
                                        <p:tav tm="100000">
                                          <p:val>
                                            <p:strVal val="#ppt_x"/>
                                          </p:val>
                                        </p:tav>
                                      </p:tavLst>
                                    </p:anim>
                                    <p:anim calcmode="lin" valueType="num">
                                      <p:cBhvr>
                                        <p:cTn id="9" dur="1000" fill="hold"/>
                                        <p:tgtEl>
                                          <p:spTgt spid="2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1">
                                            <p:txEl>
                                              <p:pRg st="0" end="0"/>
                                            </p:txEl>
                                          </p:spTgt>
                                        </p:tgtEl>
                                        <p:attrNameLst>
                                          <p:attrName>style.visibility</p:attrName>
                                        </p:attrNameLst>
                                      </p:cBhvr>
                                      <p:to>
                                        <p:strVal val="visible"/>
                                      </p:to>
                                    </p:set>
                                    <p:animEffect transition="in" filter="fade">
                                      <p:cBhvr>
                                        <p:cTn id="14" dur="1000"/>
                                        <p:tgtEl>
                                          <p:spTgt spid="241">
                                            <p:txEl>
                                              <p:pRg st="0" end="0"/>
                                            </p:txEl>
                                          </p:spTgt>
                                        </p:tgtEl>
                                      </p:cBhvr>
                                    </p:animEffect>
                                    <p:anim calcmode="lin" valueType="num">
                                      <p:cBhvr>
                                        <p:cTn id="15" dur="1000" fill="hold"/>
                                        <p:tgtEl>
                                          <p:spTgt spid="24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41">
                                            <p:txEl>
                                              <p:pRg st="1" end="1"/>
                                            </p:txEl>
                                          </p:spTgt>
                                        </p:tgtEl>
                                        <p:attrNameLst>
                                          <p:attrName>style.visibility</p:attrName>
                                        </p:attrNameLst>
                                      </p:cBhvr>
                                      <p:to>
                                        <p:strVal val="visible"/>
                                      </p:to>
                                    </p:set>
                                    <p:animEffect transition="in" filter="fade">
                                      <p:cBhvr>
                                        <p:cTn id="21" dur="1000"/>
                                        <p:tgtEl>
                                          <p:spTgt spid="241">
                                            <p:txEl>
                                              <p:pRg st="1" end="1"/>
                                            </p:txEl>
                                          </p:spTgt>
                                        </p:tgtEl>
                                      </p:cBhvr>
                                    </p:animEffect>
                                    <p:anim calcmode="lin" valueType="num">
                                      <p:cBhvr>
                                        <p:cTn id="22" dur="1000" fill="hold"/>
                                        <p:tgtEl>
                                          <p:spTgt spid="241">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4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45"/>
                                        </p:tgtEl>
                                        <p:attrNameLst>
                                          <p:attrName>style.visibility</p:attrName>
                                        </p:attrNameLst>
                                      </p:cBhvr>
                                      <p:to>
                                        <p:strVal val="visible"/>
                                      </p:to>
                                    </p:set>
                                    <p:animEffect transition="in" filter="fade">
                                      <p:cBhvr>
                                        <p:cTn id="28" dur="1000"/>
                                        <p:tgtEl>
                                          <p:spTgt spid="245"/>
                                        </p:tgtEl>
                                      </p:cBhvr>
                                    </p:animEffect>
                                    <p:anim calcmode="lin" valueType="num">
                                      <p:cBhvr>
                                        <p:cTn id="29" dur="1000" fill="hold"/>
                                        <p:tgtEl>
                                          <p:spTgt spid="245"/>
                                        </p:tgtEl>
                                        <p:attrNameLst>
                                          <p:attrName>ppt_x</p:attrName>
                                        </p:attrNameLst>
                                      </p:cBhvr>
                                      <p:tavLst>
                                        <p:tav tm="0">
                                          <p:val>
                                            <p:strVal val="#ppt_x"/>
                                          </p:val>
                                        </p:tav>
                                        <p:tav tm="100000">
                                          <p:val>
                                            <p:strVal val="#ppt_x"/>
                                          </p:val>
                                        </p:tav>
                                      </p:tavLst>
                                    </p:anim>
                                    <p:anim calcmode="lin" valueType="num">
                                      <p:cBhvr>
                                        <p:cTn id="30" dur="1000" fill="hold"/>
                                        <p:tgtEl>
                                          <p:spTgt spid="2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0" build="p"/>
      <p:bldP spid="242" grpId="0"/>
      <p:bldP spid="24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body" idx="1"/>
          </p:nvPr>
        </p:nvSpPr>
        <p:spPr>
          <a:xfrm>
            <a:off x="675957" y="2102218"/>
            <a:ext cx="6431400" cy="3608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lnSpc>
                <a:spcPct val="100000"/>
              </a:lnSpc>
              <a:spcBef>
                <a:spcPts val="0"/>
              </a:spcBef>
              <a:spcAft>
                <a:spcPts val="0"/>
              </a:spcAft>
              <a:buSzPct val="80000"/>
              <a:buChar char="▪"/>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dirty="0"/>
          </a:p>
        </p:txBody>
      </p:sp>
      <p:sp>
        <p:nvSpPr>
          <p:cNvPr id="251" name="Google Shape;251;p24"/>
          <p:cNvSpPr txBox="1">
            <a:spLocks noGrp="1"/>
          </p:cNvSpPr>
          <p:nvPr>
            <p:ph type="title"/>
          </p:nvPr>
        </p:nvSpPr>
        <p:spPr>
          <a:xfrm>
            <a:off x="754602" y="550417"/>
            <a:ext cx="6995700" cy="790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dirty="0"/>
              <a:t>PROBLEM  STATEMENT</a:t>
            </a:r>
            <a:endParaRPr dirty="0"/>
          </a:p>
        </p:txBody>
      </p:sp>
      <p:pic>
        <p:nvPicPr>
          <p:cNvPr id="252" name="Google Shape;252;p24"/>
          <p:cNvPicPr preferRelativeResize="0"/>
          <p:nvPr/>
        </p:nvPicPr>
        <p:blipFill rotWithShape="1">
          <a:blip r:embed="rId3">
            <a:alphaModFix/>
          </a:blip>
          <a:srcRect/>
          <a:stretch/>
        </p:blipFill>
        <p:spPr>
          <a:xfrm>
            <a:off x="7995684" y="2930834"/>
            <a:ext cx="2760756" cy="3264408"/>
          </a:xfrm>
          <a:prstGeom prst="rect">
            <a:avLst/>
          </a:prstGeom>
          <a:noFill/>
          <a:ln>
            <a:noFill/>
          </a:ln>
        </p:spPr>
      </p:pic>
      <p:pic>
        <p:nvPicPr>
          <p:cNvPr id="253" name="Google Shape;253;p24"/>
          <p:cNvPicPr preferRelativeResize="0"/>
          <p:nvPr/>
        </p:nvPicPr>
        <p:blipFill rotWithShape="1">
          <a:blip r:embed="rId4">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Effect transition="in" filter="fade">
                                      <p:cBhvr>
                                        <p:cTn id="7" dur="1000"/>
                                        <p:tgtEl>
                                          <p:spTgt spid="251"/>
                                        </p:tgtEl>
                                      </p:cBhvr>
                                    </p:animEffect>
                                    <p:anim calcmode="lin" valueType="num">
                                      <p:cBhvr>
                                        <p:cTn id="8" dur="1000" fill="hold"/>
                                        <p:tgtEl>
                                          <p:spTgt spid="251"/>
                                        </p:tgtEl>
                                        <p:attrNameLst>
                                          <p:attrName>ppt_x</p:attrName>
                                        </p:attrNameLst>
                                      </p:cBhvr>
                                      <p:tavLst>
                                        <p:tav tm="0">
                                          <p:val>
                                            <p:strVal val="#ppt_x"/>
                                          </p:val>
                                        </p:tav>
                                        <p:tav tm="100000">
                                          <p:val>
                                            <p:strVal val="#ppt_x"/>
                                          </p:val>
                                        </p:tav>
                                      </p:tavLst>
                                    </p:anim>
                                    <p:anim calcmode="lin" valueType="num">
                                      <p:cBhvr>
                                        <p:cTn id="9" dur="1000" fill="hold"/>
                                        <p:tgtEl>
                                          <p:spTgt spid="25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0">
                                            <p:txEl>
                                              <p:pRg st="0" end="0"/>
                                            </p:txEl>
                                          </p:spTgt>
                                        </p:tgtEl>
                                        <p:attrNameLst>
                                          <p:attrName>style.visibility</p:attrName>
                                        </p:attrNameLst>
                                      </p:cBhvr>
                                      <p:to>
                                        <p:strVal val="visible"/>
                                      </p:to>
                                    </p:set>
                                    <p:animEffect transition="in" filter="fade">
                                      <p:cBhvr>
                                        <p:cTn id="14" dur="1000"/>
                                        <p:tgtEl>
                                          <p:spTgt spid="250">
                                            <p:txEl>
                                              <p:pRg st="0" end="0"/>
                                            </p:txEl>
                                          </p:spTgt>
                                        </p:tgtEl>
                                      </p:cBhvr>
                                    </p:animEffect>
                                    <p:anim calcmode="lin" valueType="num">
                                      <p:cBhvr>
                                        <p:cTn id="15" dur="1000" fill="hold"/>
                                        <p:tgtEl>
                                          <p:spTgt spid="25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5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660399" y="805213"/>
            <a:ext cx="6276000" cy="8310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dirty="0"/>
              <a:t>Project Description</a:t>
            </a:r>
            <a:br>
              <a:rPr lang="en-US" dirty="0"/>
            </a:br>
            <a:br>
              <a:rPr lang="en-US" dirty="0"/>
            </a:br>
            <a:endParaRPr dirty="0"/>
          </a:p>
        </p:txBody>
      </p:sp>
      <p:pic>
        <p:nvPicPr>
          <p:cNvPr id="259" name="Google Shape;259;p2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pic>
        <p:nvPicPr>
          <p:cNvPr id="260" name="Google Shape;260;p25"/>
          <p:cNvPicPr preferRelativeResize="0"/>
          <p:nvPr/>
        </p:nvPicPr>
        <p:blipFill rotWithShape="1">
          <a:blip r:embed="rId4">
            <a:alphaModFix/>
          </a:blip>
          <a:srcRect/>
          <a:stretch/>
        </p:blipFill>
        <p:spPr>
          <a:xfrm>
            <a:off x="467359" y="6410461"/>
            <a:ext cx="3706253" cy="296092"/>
          </a:xfrm>
          <a:prstGeom prst="rect">
            <a:avLst/>
          </a:prstGeom>
          <a:noFill/>
          <a:ln>
            <a:noFill/>
          </a:ln>
        </p:spPr>
      </p:pic>
      <p:sp>
        <p:nvSpPr>
          <p:cNvPr id="261" name="TextBox 260"/>
          <p:cNvSpPr txBox="1"/>
          <p:nvPr/>
        </p:nvSpPr>
        <p:spPr>
          <a:xfrm>
            <a:off x="660399" y="2368440"/>
            <a:ext cx="8699911" cy="2739211"/>
          </a:xfrm>
          <a:prstGeom prst="rect">
            <a:avLst/>
          </a:prstGeom>
          <a:noFill/>
        </p:spPr>
        <p:txBody>
          <a:bodyPr wrap="square">
            <a:spAutoFit/>
          </a:bodyPr>
          <a:lstStyle/>
          <a:p>
            <a:pPr>
              <a:spcAft>
                <a:spcPts val="1200"/>
              </a:spcAft>
            </a:pPr>
            <a:r>
              <a:rPr sz="1800" b="0" dirty="0">
                <a:solidFill>
                  <a:srgbClr val="222222"/>
                </a:solidFill>
                <a:latin typeface="Calibri"/>
              </a:rPr>
              <a:t>This project analyzes a 4,000-farm dataset spanning three Indian agricultural seasons (Kharif, Rabi, Zaid) across 8 states, 8 crops and 4 irrigation methods, to explain how and why agricultural performance changes across seasons.</a:t>
            </a:r>
          </a:p>
          <a:p>
            <a:pPr>
              <a:spcAft>
                <a:spcPts val="1200"/>
              </a:spcAft>
            </a:pPr>
            <a:r>
              <a:rPr sz="1800" b="0" dirty="0">
                <a:solidFill>
                  <a:srgbClr val="222222"/>
                </a:solidFill>
                <a:latin typeface="Calibri"/>
              </a:rPr>
              <a:t>After verifying the dataset's internal numeric identities and recovering or imputing a small number of missing values (under 1.2% of any column), the analysis combines descriptive statistics, non-parametric hypothesis testing (Kruskal-Wallis, Levene's test, effect sizes), two-way ANOVA variance decomposition, and correlation analysis in Python to determine which seasonal differences are statistically real, how large they are relative to crop and regional effects, and what that implies for seasonal agricultural planning.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1000"/>
                                        <p:tgtEl>
                                          <p:spTgt spid="258"/>
                                        </p:tgtEl>
                                      </p:cBhvr>
                                    </p:animEffect>
                                    <p:anim calcmode="lin" valueType="num">
                                      <p:cBhvr>
                                        <p:cTn id="8" dur="1000" fill="hold"/>
                                        <p:tgtEl>
                                          <p:spTgt spid="258"/>
                                        </p:tgtEl>
                                        <p:attrNameLst>
                                          <p:attrName>ppt_x</p:attrName>
                                        </p:attrNameLst>
                                      </p:cBhvr>
                                      <p:tavLst>
                                        <p:tav tm="0">
                                          <p:val>
                                            <p:strVal val="#ppt_x"/>
                                          </p:val>
                                        </p:tav>
                                        <p:tav tm="100000">
                                          <p:val>
                                            <p:strVal val="#ppt_x"/>
                                          </p:val>
                                        </p:tav>
                                      </p:tavLst>
                                    </p:anim>
                                    <p:anim calcmode="lin" valueType="num">
                                      <p:cBhvr>
                                        <p:cTn id="9" dur="1000" fill="hold"/>
                                        <p:tgtEl>
                                          <p:spTgt spid="25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1"/>
                                        </p:tgtEl>
                                        <p:attrNameLst>
                                          <p:attrName>style.visibility</p:attrName>
                                        </p:attrNameLst>
                                      </p:cBhvr>
                                      <p:to>
                                        <p:strVal val="visible"/>
                                      </p:to>
                                    </p:set>
                                    <p:animEffect transition="in" filter="fade">
                                      <p:cBhvr>
                                        <p:cTn id="14" dur="1000"/>
                                        <p:tgtEl>
                                          <p:spTgt spid="261"/>
                                        </p:tgtEl>
                                      </p:cBhvr>
                                    </p:animEffect>
                                    <p:anim calcmode="lin" valueType="num">
                                      <p:cBhvr>
                                        <p:cTn id="15" dur="1000" fill="hold"/>
                                        <p:tgtEl>
                                          <p:spTgt spid="261"/>
                                        </p:tgtEl>
                                        <p:attrNameLst>
                                          <p:attrName>ppt_x</p:attrName>
                                        </p:attrNameLst>
                                      </p:cBhvr>
                                      <p:tavLst>
                                        <p:tav tm="0">
                                          <p:val>
                                            <p:strVal val="#ppt_x"/>
                                          </p:val>
                                        </p:tav>
                                        <p:tav tm="100000">
                                          <p:val>
                                            <p:strVal val="#ppt_x"/>
                                          </p:val>
                                        </p:tav>
                                      </p:tavLst>
                                    </p:anim>
                                    <p:anim calcmode="lin" valueType="num">
                                      <p:cBhvr>
                                        <p:cTn id="16" dur="1000" fill="hold"/>
                                        <p:tgtEl>
                                          <p:spTgt spid="2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p:bldP spid="2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body" idx="1"/>
          </p:nvPr>
        </p:nvSpPr>
        <p:spPr>
          <a:xfrm>
            <a:off x="563083" y="1971719"/>
            <a:ext cx="7904400" cy="3990000"/>
          </a:xfrm>
          <a:prstGeom prst="rect">
            <a:avLst/>
          </a:prstGeom>
          <a:noFill/>
          <a:ln>
            <a:noFill/>
          </a:ln>
        </p:spPr>
        <p:txBody>
          <a:bodyPr spcFirstLastPara="1" wrap="square" lIns="91425" tIns="45700" rIns="91425" bIns="45700" anchor="t" anchorCtr="0">
            <a:normAutofit/>
          </a:bodyPr>
          <a:lstStyle/>
          <a:p>
            <a:r>
              <a:rPr sz="1800" b="0" dirty="0">
                <a:solidFill>
                  <a:srgbClr val="222222"/>
                </a:solidFill>
                <a:latin typeface="Calibri"/>
              </a:rPr>
              <a:t>Farmers and farmer cooperatives -- seasonal crop and resource-planning decisions</a:t>
            </a:r>
          </a:p>
          <a:p>
            <a:r>
              <a:rPr sz="1800" b="0" dirty="0">
                <a:solidFill>
                  <a:srgbClr val="222222"/>
                </a:solidFill>
                <a:latin typeface="Calibri"/>
              </a:rPr>
              <a:t>Agricultural credit providers and crop insurers -- season-specific risk underwriting</a:t>
            </a:r>
          </a:p>
          <a:p>
            <a:r>
              <a:rPr sz="1800" b="0" dirty="0">
                <a:solidFill>
                  <a:srgbClr val="222222"/>
                </a:solidFill>
                <a:latin typeface="Calibri"/>
              </a:rPr>
              <a:t>State agriculture department officials and extension officers -- targeted seasonal advisories</a:t>
            </a:r>
          </a:p>
          <a:p>
            <a:r>
              <a:rPr sz="1800" b="0" dirty="0">
                <a:solidFill>
                  <a:srgbClr val="222222"/>
                </a:solidFill>
                <a:latin typeface="Calibri"/>
              </a:rPr>
              <a:t>Agri-input and irrigation equipment companies -- timing outreach to the seasons with the clearest efficiency gap</a:t>
            </a:r>
          </a:p>
          <a:p>
            <a:r>
              <a:rPr sz="1800" b="0" dirty="0">
                <a:solidFill>
                  <a:srgbClr val="222222"/>
                </a:solidFill>
                <a:latin typeface="Calibri"/>
              </a:rPr>
              <a:t>Agricultural researchers and students -- a reusable template for season-effect analysis</a:t>
            </a:r>
          </a:p>
        </p:txBody>
      </p:sp>
      <p:sp>
        <p:nvSpPr>
          <p:cNvPr id="266" name="Google Shape;266;p26"/>
          <p:cNvSpPr txBox="1">
            <a:spLocks noGrp="1"/>
          </p:cNvSpPr>
          <p:nvPr>
            <p:ph type="title"/>
          </p:nvPr>
        </p:nvSpPr>
        <p:spPr>
          <a:xfrm>
            <a:off x="620008" y="876617"/>
            <a:ext cx="10046100" cy="802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dirty="0"/>
              <a:t>WHO ARE THE END USERS?</a:t>
            </a:r>
            <a:endParaRPr sz="2000" dirty="0"/>
          </a:p>
        </p:txBody>
      </p:sp>
      <p:pic>
        <p:nvPicPr>
          <p:cNvPr id="267" name="Google Shape;267;p26"/>
          <p:cNvPicPr preferRelativeResize="0"/>
          <p:nvPr/>
        </p:nvPicPr>
        <p:blipFill rotWithShape="1">
          <a:blip r:embed="rId3">
            <a:alphaModFix/>
          </a:blip>
          <a:src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animEffect transition="in" filter="fade">
                                      <p:cBhvr>
                                        <p:cTn id="7" dur="1000"/>
                                        <p:tgtEl>
                                          <p:spTgt spid="266"/>
                                        </p:tgtEl>
                                      </p:cBhvr>
                                    </p:animEffect>
                                    <p:anim calcmode="lin" valueType="num">
                                      <p:cBhvr>
                                        <p:cTn id="8" dur="1000" fill="hold"/>
                                        <p:tgtEl>
                                          <p:spTgt spid="266"/>
                                        </p:tgtEl>
                                        <p:attrNameLst>
                                          <p:attrName>ppt_x</p:attrName>
                                        </p:attrNameLst>
                                      </p:cBhvr>
                                      <p:tavLst>
                                        <p:tav tm="0">
                                          <p:val>
                                            <p:strVal val="#ppt_x"/>
                                          </p:val>
                                        </p:tav>
                                        <p:tav tm="100000">
                                          <p:val>
                                            <p:strVal val="#ppt_x"/>
                                          </p:val>
                                        </p:tav>
                                      </p:tavLst>
                                    </p:anim>
                                    <p:anim calcmode="lin" valueType="num">
                                      <p:cBhvr>
                                        <p:cTn id="9" dur="1000" fill="hold"/>
                                        <p:tgtEl>
                                          <p:spTgt spid="2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5">
                                            <p:txEl>
                                              <p:pRg st="0" end="0"/>
                                            </p:txEl>
                                          </p:spTgt>
                                        </p:tgtEl>
                                        <p:attrNameLst>
                                          <p:attrName>style.visibility</p:attrName>
                                        </p:attrNameLst>
                                      </p:cBhvr>
                                      <p:to>
                                        <p:strVal val="visible"/>
                                      </p:to>
                                    </p:set>
                                    <p:animEffect transition="in" filter="fade">
                                      <p:cBhvr>
                                        <p:cTn id="14" dur="1000"/>
                                        <p:tgtEl>
                                          <p:spTgt spid="265">
                                            <p:txEl>
                                              <p:pRg st="0" end="0"/>
                                            </p:txEl>
                                          </p:spTgt>
                                        </p:tgtEl>
                                      </p:cBhvr>
                                    </p:animEffect>
                                    <p:anim calcmode="lin" valueType="num">
                                      <p:cBhvr>
                                        <p:cTn id="15" dur="1000" fill="hold"/>
                                        <p:tgtEl>
                                          <p:spTgt spid="26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6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65">
                                            <p:txEl>
                                              <p:pRg st="1" end="1"/>
                                            </p:txEl>
                                          </p:spTgt>
                                        </p:tgtEl>
                                        <p:attrNameLst>
                                          <p:attrName>style.visibility</p:attrName>
                                        </p:attrNameLst>
                                      </p:cBhvr>
                                      <p:to>
                                        <p:strVal val="visible"/>
                                      </p:to>
                                    </p:set>
                                    <p:animEffect transition="in" filter="fade">
                                      <p:cBhvr>
                                        <p:cTn id="21" dur="1000"/>
                                        <p:tgtEl>
                                          <p:spTgt spid="265">
                                            <p:txEl>
                                              <p:pRg st="1" end="1"/>
                                            </p:txEl>
                                          </p:spTgt>
                                        </p:tgtEl>
                                      </p:cBhvr>
                                    </p:animEffect>
                                    <p:anim calcmode="lin" valueType="num">
                                      <p:cBhvr>
                                        <p:cTn id="22" dur="1000" fill="hold"/>
                                        <p:tgtEl>
                                          <p:spTgt spid="26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6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65">
                                            <p:txEl>
                                              <p:pRg st="2" end="2"/>
                                            </p:txEl>
                                          </p:spTgt>
                                        </p:tgtEl>
                                        <p:attrNameLst>
                                          <p:attrName>style.visibility</p:attrName>
                                        </p:attrNameLst>
                                      </p:cBhvr>
                                      <p:to>
                                        <p:strVal val="visible"/>
                                      </p:to>
                                    </p:set>
                                    <p:animEffect transition="in" filter="fade">
                                      <p:cBhvr>
                                        <p:cTn id="28" dur="1000"/>
                                        <p:tgtEl>
                                          <p:spTgt spid="265">
                                            <p:txEl>
                                              <p:pRg st="2" end="2"/>
                                            </p:txEl>
                                          </p:spTgt>
                                        </p:tgtEl>
                                      </p:cBhvr>
                                    </p:animEffect>
                                    <p:anim calcmode="lin" valueType="num">
                                      <p:cBhvr>
                                        <p:cTn id="29" dur="1000" fill="hold"/>
                                        <p:tgtEl>
                                          <p:spTgt spid="26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6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65">
                                            <p:txEl>
                                              <p:pRg st="3" end="3"/>
                                            </p:txEl>
                                          </p:spTgt>
                                        </p:tgtEl>
                                        <p:attrNameLst>
                                          <p:attrName>style.visibility</p:attrName>
                                        </p:attrNameLst>
                                      </p:cBhvr>
                                      <p:to>
                                        <p:strVal val="visible"/>
                                      </p:to>
                                    </p:set>
                                    <p:animEffect transition="in" filter="fade">
                                      <p:cBhvr>
                                        <p:cTn id="35" dur="1000"/>
                                        <p:tgtEl>
                                          <p:spTgt spid="265">
                                            <p:txEl>
                                              <p:pRg st="3" end="3"/>
                                            </p:txEl>
                                          </p:spTgt>
                                        </p:tgtEl>
                                      </p:cBhvr>
                                    </p:animEffect>
                                    <p:anim calcmode="lin" valueType="num">
                                      <p:cBhvr>
                                        <p:cTn id="36" dur="1000" fill="hold"/>
                                        <p:tgtEl>
                                          <p:spTgt spid="26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6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65">
                                            <p:txEl>
                                              <p:pRg st="4" end="4"/>
                                            </p:txEl>
                                          </p:spTgt>
                                        </p:tgtEl>
                                        <p:attrNameLst>
                                          <p:attrName>style.visibility</p:attrName>
                                        </p:attrNameLst>
                                      </p:cBhvr>
                                      <p:to>
                                        <p:strVal val="visible"/>
                                      </p:to>
                                    </p:set>
                                    <p:animEffect transition="in" filter="fade">
                                      <p:cBhvr>
                                        <p:cTn id="42" dur="1000"/>
                                        <p:tgtEl>
                                          <p:spTgt spid="265">
                                            <p:txEl>
                                              <p:pRg st="4" end="4"/>
                                            </p:txEl>
                                          </p:spTgt>
                                        </p:tgtEl>
                                      </p:cBhvr>
                                    </p:animEffect>
                                    <p:anim calcmode="lin" valueType="num">
                                      <p:cBhvr>
                                        <p:cTn id="43" dur="1000" fill="hold"/>
                                        <p:tgtEl>
                                          <p:spTgt spid="26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6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 grpId="0" build="p"/>
      <p:bldP spid="26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2"/>
        <p:cNvGrpSpPr/>
        <p:nvPr/>
      </p:nvGrpSpPr>
      <p:grpSpPr>
        <a:xfrm>
          <a:off x="0" y="0"/>
          <a:ext cx="0" cy="0"/>
          <a:chOff x="0" y="0"/>
          <a:chExt cx="0" cy="0"/>
        </a:xfrm>
      </p:grpSpPr>
      <p:pic>
        <p:nvPicPr>
          <p:cNvPr id="273" name="Google Shape;273;p27"/>
          <p:cNvPicPr preferRelativeResize="0"/>
          <p:nvPr/>
        </p:nvPicPr>
        <p:blipFill rotWithShape="1">
          <a:blip r:embed="rId3">
            <a:alphaModFix/>
          </a:blip>
          <a:srcRect/>
          <a:stretch/>
        </p:blipFill>
        <p:spPr>
          <a:xfrm>
            <a:off x="467359" y="6410461"/>
            <a:ext cx="3706253" cy="296092"/>
          </a:xfrm>
          <a:prstGeom prst="rect">
            <a:avLst/>
          </a:prstGeom>
          <a:noFill/>
          <a:ln>
            <a:noFill/>
          </a:ln>
        </p:spPr>
      </p:pic>
      <p:pic>
        <p:nvPicPr>
          <p:cNvPr id="274" name="Google Shape;274;p27"/>
          <p:cNvPicPr preferRelativeResize="0"/>
          <p:nvPr/>
        </p:nvPicPr>
        <p:blipFill rotWithShape="1">
          <a:blip r:embed="rId4">
            <a:alphaModFix/>
          </a:blip>
          <a:srcRect/>
          <a:stretch/>
        </p:blipFill>
        <p:spPr>
          <a:xfrm flipH="1">
            <a:off x="50800" y="3820160"/>
            <a:ext cx="1727200" cy="3010025"/>
          </a:xfrm>
          <a:prstGeom prst="rect">
            <a:avLst/>
          </a:prstGeom>
          <a:noFill/>
          <a:ln>
            <a:noFill/>
          </a:ln>
        </p:spPr>
      </p:pic>
      <p:sp>
        <p:nvSpPr>
          <p:cNvPr id="275" name="Google Shape;275;p27"/>
          <p:cNvSpPr txBox="1">
            <a:spLocks noGrp="1"/>
          </p:cNvSpPr>
          <p:nvPr>
            <p:ph type="body" idx="1"/>
          </p:nvPr>
        </p:nvSpPr>
        <p:spPr>
          <a:xfrm>
            <a:off x="660399" y="1315107"/>
            <a:ext cx="9027600" cy="5243400"/>
          </a:xfrm>
          <a:prstGeom prst="rect">
            <a:avLst/>
          </a:prstGeom>
          <a:noFill/>
          <a:ln>
            <a:noFill/>
          </a:ln>
        </p:spPr>
        <p:txBody>
          <a:bodyPr spcFirstLastPara="1" wrap="square" lIns="91425" tIns="45700" rIns="91425" bIns="45700" anchor="t" anchorCtr="0">
            <a:normAutofit/>
          </a:bodyPr>
          <a:lstStyle/>
          <a:p>
            <a:r>
              <a:rPr sz="1600" b="0" dirty="0">
                <a:solidFill>
                  <a:srgbClr val="222222"/>
                </a:solidFill>
                <a:latin typeface="Calibri"/>
              </a:rPr>
              <a:t>Python 3 -- pandas &amp; NumPy for data cleaning and analysis</a:t>
            </a:r>
          </a:p>
          <a:p>
            <a:r>
              <a:rPr sz="1600" b="0" dirty="0">
                <a:solidFill>
                  <a:srgbClr val="222222"/>
                </a:solidFill>
                <a:latin typeface="Calibri"/>
              </a:rPr>
              <a:t>SciPy (Kruskal-Wallis, Levene's test, Pearson/Spearman correlation) &amp; </a:t>
            </a:r>
            <a:r>
              <a:rPr sz="1600" b="0" dirty="0" err="1">
                <a:solidFill>
                  <a:srgbClr val="222222"/>
                </a:solidFill>
                <a:latin typeface="Calibri"/>
              </a:rPr>
              <a:t>statsmodels</a:t>
            </a:r>
            <a:r>
              <a:rPr sz="1600" b="0" dirty="0">
                <a:solidFill>
                  <a:srgbClr val="222222"/>
                </a:solidFill>
                <a:latin typeface="Calibri"/>
              </a:rPr>
              <a:t> (two-way ANOVA)</a:t>
            </a:r>
          </a:p>
          <a:p>
            <a:r>
              <a:rPr sz="1600" b="0" dirty="0">
                <a:solidFill>
                  <a:srgbClr val="222222"/>
                </a:solidFill>
                <a:latin typeface="Calibri"/>
              </a:rPr>
              <a:t>Matplotlib &amp; Seaborn for statistical visualization</a:t>
            </a:r>
          </a:p>
          <a:p>
            <a:r>
              <a:rPr sz="1600" b="0" dirty="0">
                <a:solidFill>
                  <a:srgbClr val="222222"/>
                </a:solidFill>
                <a:latin typeface="Calibri"/>
              </a:rPr>
              <a:t>Jupyter Notebook for reproducible, documented analysis</a:t>
            </a:r>
          </a:p>
          <a:p>
            <a:r>
              <a:rPr sz="1600" b="0" dirty="0">
                <a:solidFill>
                  <a:srgbClr val="222222"/>
                </a:solidFill>
                <a:latin typeface="Calibri"/>
              </a:rPr>
              <a:t>python-pptx for automated report/presentation generation</a:t>
            </a:r>
          </a:p>
        </p:txBody>
      </p:sp>
      <p:sp>
        <p:nvSpPr>
          <p:cNvPr id="276" name="Google Shape;276;p27"/>
          <p:cNvSpPr txBox="1">
            <a:spLocks noGrp="1"/>
          </p:cNvSpPr>
          <p:nvPr>
            <p:ph type="title"/>
          </p:nvPr>
        </p:nvSpPr>
        <p:spPr>
          <a:xfrm>
            <a:off x="660399" y="430567"/>
            <a:ext cx="5306400" cy="847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Technology Used</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1000"/>
                                        <p:tgtEl>
                                          <p:spTgt spid="276"/>
                                        </p:tgtEl>
                                      </p:cBhvr>
                                    </p:animEffect>
                                    <p:anim calcmode="lin" valueType="num">
                                      <p:cBhvr>
                                        <p:cTn id="8" dur="1000" fill="hold"/>
                                        <p:tgtEl>
                                          <p:spTgt spid="276"/>
                                        </p:tgtEl>
                                        <p:attrNameLst>
                                          <p:attrName>ppt_x</p:attrName>
                                        </p:attrNameLst>
                                      </p:cBhvr>
                                      <p:tavLst>
                                        <p:tav tm="0">
                                          <p:val>
                                            <p:strVal val="#ppt_x"/>
                                          </p:val>
                                        </p:tav>
                                        <p:tav tm="100000">
                                          <p:val>
                                            <p:strVal val="#ppt_x"/>
                                          </p:val>
                                        </p:tav>
                                      </p:tavLst>
                                    </p:anim>
                                    <p:anim calcmode="lin" valueType="num">
                                      <p:cBhvr>
                                        <p:cTn id="9" dur="1000" fill="hold"/>
                                        <p:tgtEl>
                                          <p:spTgt spid="27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5">
                                            <p:txEl>
                                              <p:pRg st="0" end="0"/>
                                            </p:txEl>
                                          </p:spTgt>
                                        </p:tgtEl>
                                        <p:attrNameLst>
                                          <p:attrName>style.visibility</p:attrName>
                                        </p:attrNameLst>
                                      </p:cBhvr>
                                      <p:to>
                                        <p:strVal val="visible"/>
                                      </p:to>
                                    </p:set>
                                    <p:animEffect transition="in" filter="fade">
                                      <p:cBhvr>
                                        <p:cTn id="14" dur="1000"/>
                                        <p:tgtEl>
                                          <p:spTgt spid="275">
                                            <p:txEl>
                                              <p:pRg st="0" end="0"/>
                                            </p:txEl>
                                          </p:spTgt>
                                        </p:tgtEl>
                                      </p:cBhvr>
                                    </p:animEffect>
                                    <p:anim calcmode="lin" valueType="num">
                                      <p:cBhvr>
                                        <p:cTn id="15" dur="1000" fill="hold"/>
                                        <p:tgtEl>
                                          <p:spTgt spid="27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5">
                                            <p:txEl>
                                              <p:pRg st="1" end="1"/>
                                            </p:txEl>
                                          </p:spTgt>
                                        </p:tgtEl>
                                        <p:attrNameLst>
                                          <p:attrName>style.visibility</p:attrName>
                                        </p:attrNameLst>
                                      </p:cBhvr>
                                      <p:to>
                                        <p:strVal val="visible"/>
                                      </p:to>
                                    </p:set>
                                    <p:animEffect transition="in" filter="fade">
                                      <p:cBhvr>
                                        <p:cTn id="21" dur="1000"/>
                                        <p:tgtEl>
                                          <p:spTgt spid="275">
                                            <p:txEl>
                                              <p:pRg st="1" end="1"/>
                                            </p:txEl>
                                          </p:spTgt>
                                        </p:tgtEl>
                                      </p:cBhvr>
                                    </p:animEffect>
                                    <p:anim calcmode="lin" valueType="num">
                                      <p:cBhvr>
                                        <p:cTn id="22" dur="1000" fill="hold"/>
                                        <p:tgtEl>
                                          <p:spTgt spid="27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75">
                                            <p:txEl>
                                              <p:pRg st="2" end="2"/>
                                            </p:txEl>
                                          </p:spTgt>
                                        </p:tgtEl>
                                        <p:attrNameLst>
                                          <p:attrName>style.visibility</p:attrName>
                                        </p:attrNameLst>
                                      </p:cBhvr>
                                      <p:to>
                                        <p:strVal val="visible"/>
                                      </p:to>
                                    </p:set>
                                    <p:animEffect transition="in" filter="fade">
                                      <p:cBhvr>
                                        <p:cTn id="28" dur="1000"/>
                                        <p:tgtEl>
                                          <p:spTgt spid="275">
                                            <p:txEl>
                                              <p:pRg st="2" end="2"/>
                                            </p:txEl>
                                          </p:spTgt>
                                        </p:tgtEl>
                                      </p:cBhvr>
                                    </p:animEffect>
                                    <p:anim calcmode="lin" valueType="num">
                                      <p:cBhvr>
                                        <p:cTn id="29" dur="1000" fill="hold"/>
                                        <p:tgtEl>
                                          <p:spTgt spid="27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75">
                                            <p:txEl>
                                              <p:pRg st="3" end="3"/>
                                            </p:txEl>
                                          </p:spTgt>
                                        </p:tgtEl>
                                        <p:attrNameLst>
                                          <p:attrName>style.visibility</p:attrName>
                                        </p:attrNameLst>
                                      </p:cBhvr>
                                      <p:to>
                                        <p:strVal val="visible"/>
                                      </p:to>
                                    </p:set>
                                    <p:animEffect transition="in" filter="fade">
                                      <p:cBhvr>
                                        <p:cTn id="35" dur="1000"/>
                                        <p:tgtEl>
                                          <p:spTgt spid="275">
                                            <p:txEl>
                                              <p:pRg st="3" end="3"/>
                                            </p:txEl>
                                          </p:spTgt>
                                        </p:tgtEl>
                                      </p:cBhvr>
                                    </p:animEffect>
                                    <p:anim calcmode="lin" valueType="num">
                                      <p:cBhvr>
                                        <p:cTn id="36" dur="1000" fill="hold"/>
                                        <p:tgtEl>
                                          <p:spTgt spid="27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75">
                                            <p:txEl>
                                              <p:pRg st="4" end="4"/>
                                            </p:txEl>
                                          </p:spTgt>
                                        </p:tgtEl>
                                        <p:attrNameLst>
                                          <p:attrName>style.visibility</p:attrName>
                                        </p:attrNameLst>
                                      </p:cBhvr>
                                      <p:to>
                                        <p:strVal val="visible"/>
                                      </p:to>
                                    </p:set>
                                    <p:animEffect transition="in" filter="fade">
                                      <p:cBhvr>
                                        <p:cTn id="42" dur="1000"/>
                                        <p:tgtEl>
                                          <p:spTgt spid="275">
                                            <p:txEl>
                                              <p:pRg st="4" end="4"/>
                                            </p:txEl>
                                          </p:spTgt>
                                        </p:tgtEl>
                                      </p:cBhvr>
                                    </p:animEffect>
                                    <p:anim calcmode="lin" valueType="num">
                                      <p:cBhvr>
                                        <p:cTn id="43" dur="1000" fill="hold"/>
                                        <p:tgtEl>
                                          <p:spTgt spid="27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7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build="p"/>
      <p:bldP spid="27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28"/>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82" name="Google Shape;282;p28"/>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RESULTS </a:t>
            </a:r>
            <a:endParaRPr dirty="0"/>
          </a:p>
        </p:txBody>
      </p:sp>
      <p:sp>
        <p:nvSpPr>
          <p:cNvPr id="283" name="Google Shape;283;p28"/>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4" name="Google Shape;284;p28"/>
          <p:cNvSpPr txBox="1"/>
          <p:nvPr/>
        </p:nvSpPr>
        <p:spPr>
          <a:xfrm>
            <a:off x="4424250" y="1080434"/>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5" name="TextBox 284"/>
          <p:cNvSpPr txBox="1"/>
          <p:nvPr/>
        </p:nvSpPr>
        <p:spPr>
          <a:xfrm>
            <a:off x="457200" y="2172969"/>
            <a:ext cx="8765458" cy="830997"/>
          </a:xfrm>
          <a:prstGeom prst="rect">
            <a:avLst/>
          </a:prstGeom>
          <a:noFill/>
        </p:spPr>
        <p:txBody>
          <a:bodyPr wrap="square">
            <a:spAutoFit/>
          </a:bodyPr>
          <a:lstStyle/>
          <a:p>
            <a:r>
              <a:rPr sz="1600" b="1" dirty="0">
                <a:solidFill>
                  <a:srgbClr val="1B3B5C"/>
                </a:solidFill>
                <a:latin typeface="Calibri"/>
              </a:rPr>
              <a:t>Kharif is unambiguously the strongest season -- mean profit falls from +Rs.1.79L (Kharif) to +Rs.0.88L (Rabi) to -Rs.0.25L (Zaid), a statistically significant gradient (Kruskal-Wallis p&lt;0.001) driven by revenue, not cost.</a:t>
            </a:r>
          </a:p>
        </p:txBody>
      </p:sp>
      <p:pic>
        <p:nvPicPr>
          <p:cNvPr id="286" name="Picture 285" descr="chart_01_seasonal_performance_overview.png"/>
          <p:cNvPicPr>
            <a:picLocks noChangeAspect="1"/>
          </p:cNvPicPr>
          <p:nvPr/>
        </p:nvPicPr>
        <p:blipFill>
          <a:blip r:embed="rId4"/>
          <a:stretch>
            <a:fillRect/>
          </a:stretch>
        </p:blipFill>
        <p:spPr>
          <a:xfrm>
            <a:off x="457200" y="3164568"/>
            <a:ext cx="8560000" cy="27932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1000"/>
                                        <p:tgtEl>
                                          <p:spTgt spid="282"/>
                                        </p:tgtEl>
                                      </p:cBhvr>
                                    </p:animEffect>
                                    <p:anim calcmode="lin" valueType="num">
                                      <p:cBhvr>
                                        <p:cTn id="8" dur="1000" fill="hold"/>
                                        <p:tgtEl>
                                          <p:spTgt spid="282"/>
                                        </p:tgtEl>
                                        <p:attrNameLst>
                                          <p:attrName>ppt_x</p:attrName>
                                        </p:attrNameLst>
                                      </p:cBhvr>
                                      <p:tavLst>
                                        <p:tav tm="0">
                                          <p:val>
                                            <p:strVal val="#ppt_x"/>
                                          </p:val>
                                        </p:tav>
                                        <p:tav tm="100000">
                                          <p:val>
                                            <p:strVal val="#ppt_x"/>
                                          </p:val>
                                        </p:tav>
                                      </p:tavLst>
                                    </p:anim>
                                    <p:anim calcmode="lin" valueType="num">
                                      <p:cBhvr>
                                        <p:cTn id="9" dur="1000" fill="hold"/>
                                        <p:tgtEl>
                                          <p:spTgt spid="28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85"/>
                                        </p:tgtEl>
                                        <p:attrNameLst>
                                          <p:attrName>style.visibility</p:attrName>
                                        </p:attrNameLst>
                                      </p:cBhvr>
                                      <p:to>
                                        <p:strVal val="visible"/>
                                      </p:to>
                                    </p:set>
                                    <p:anim calcmode="lin" valueType="num">
                                      <p:cBhvr>
                                        <p:cTn id="14" dur="500" fill="hold"/>
                                        <p:tgtEl>
                                          <p:spTgt spid="285"/>
                                        </p:tgtEl>
                                        <p:attrNameLst>
                                          <p:attrName>ppt_w</p:attrName>
                                        </p:attrNameLst>
                                      </p:cBhvr>
                                      <p:tavLst>
                                        <p:tav tm="0">
                                          <p:val>
                                            <p:fltVal val="0"/>
                                          </p:val>
                                        </p:tav>
                                        <p:tav tm="100000">
                                          <p:val>
                                            <p:strVal val="#ppt_w"/>
                                          </p:val>
                                        </p:tav>
                                      </p:tavLst>
                                    </p:anim>
                                    <p:anim calcmode="lin" valueType="num">
                                      <p:cBhvr>
                                        <p:cTn id="15" dur="500" fill="hold"/>
                                        <p:tgtEl>
                                          <p:spTgt spid="285"/>
                                        </p:tgtEl>
                                        <p:attrNameLst>
                                          <p:attrName>ppt_h</p:attrName>
                                        </p:attrNameLst>
                                      </p:cBhvr>
                                      <p:tavLst>
                                        <p:tav tm="0">
                                          <p:val>
                                            <p:fltVal val="0"/>
                                          </p:val>
                                        </p:tav>
                                        <p:tav tm="100000">
                                          <p:val>
                                            <p:strVal val="#ppt_h"/>
                                          </p:val>
                                        </p:tav>
                                      </p:tavLst>
                                    </p:anim>
                                    <p:animEffect transition="in" filter="fade">
                                      <p:cBhvr>
                                        <p:cTn id="16" dur="500"/>
                                        <p:tgtEl>
                                          <p:spTgt spid="285"/>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86"/>
                                        </p:tgtEl>
                                        <p:attrNameLst>
                                          <p:attrName>style.visibility</p:attrName>
                                        </p:attrNameLst>
                                      </p:cBhvr>
                                      <p:to>
                                        <p:strVal val="visible"/>
                                      </p:to>
                                    </p:set>
                                    <p:animEffect transition="in" filter="barn(inVertical)">
                                      <p:cBhvr>
                                        <p:cTn id="21" dur="500"/>
                                        <p:tgtEl>
                                          <p:spTgt spid="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 grpId="0"/>
      <p:bldP spid="2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29"/>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0" name="Google Shape;290;p29"/>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91" name="Google Shape;291;p29"/>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2" name="Google Shape;292;p29"/>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3" name="Google Shape;293;p29"/>
          <p:cNvSpPr txBox="1">
            <a:spLocks noGrp="1"/>
          </p:cNvSpPr>
          <p:nvPr>
            <p:ph type="body" idx="1"/>
          </p:nvPr>
        </p:nvSpPr>
        <p:spPr>
          <a:xfrm>
            <a:off x="675957" y="2085334"/>
            <a:ext cx="8282250" cy="760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sz="1600" b="1" dirty="0">
                <a:solidFill>
                  <a:srgbClr val="1B3B5C"/>
                </a:solidFill>
                <a:latin typeface="Calibri"/>
              </a:rPr>
              <a:t>Chemical input intensity barely differs by season (fertilizer, nitrogen, pesticide all p&gt;0.3) -- farmers are not spending differently by season, they are earning differently.</a:t>
            </a:r>
            <a:endParaRPr dirty="0"/>
          </a:p>
        </p:txBody>
      </p:sp>
      <p:pic>
        <p:nvPicPr>
          <p:cNvPr id="294" name="Picture 293" descr="chart_03_resource_usage_by_season.png"/>
          <p:cNvPicPr>
            <a:picLocks noChangeAspect="1"/>
          </p:cNvPicPr>
          <p:nvPr/>
        </p:nvPicPr>
        <p:blipFill>
          <a:blip r:embed="rId4"/>
          <a:stretch>
            <a:fillRect/>
          </a:stretch>
        </p:blipFill>
        <p:spPr>
          <a:xfrm>
            <a:off x="398207" y="3154735"/>
            <a:ext cx="8560000" cy="27932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1000"/>
                                        <p:tgtEl>
                                          <p:spTgt spid="290"/>
                                        </p:tgtEl>
                                      </p:cBhvr>
                                    </p:animEffect>
                                    <p:anim calcmode="lin" valueType="num">
                                      <p:cBhvr>
                                        <p:cTn id="8" dur="1000" fill="hold"/>
                                        <p:tgtEl>
                                          <p:spTgt spid="290"/>
                                        </p:tgtEl>
                                        <p:attrNameLst>
                                          <p:attrName>ppt_x</p:attrName>
                                        </p:attrNameLst>
                                      </p:cBhvr>
                                      <p:tavLst>
                                        <p:tav tm="0">
                                          <p:val>
                                            <p:strVal val="#ppt_x"/>
                                          </p:val>
                                        </p:tav>
                                        <p:tav tm="100000">
                                          <p:val>
                                            <p:strVal val="#ppt_x"/>
                                          </p:val>
                                        </p:tav>
                                      </p:tavLst>
                                    </p:anim>
                                    <p:anim calcmode="lin" valueType="num">
                                      <p:cBhvr>
                                        <p:cTn id="9" dur="1000" fill="hold"/>
                                        <p:tgtEl>
                                          <p:spTgt spid="29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93">
                                            <p:txEl>
                                              <p:pRg st="0" end="0"/>
                                            </p:txEl>
                                          </p:spTgt>
                                        </p:tgtEl>
                                        <p:attrNameLst>
                                          <p:attrName>style.visibility</p:attrName>
                                        </p:attrNameLst>
                                      </p:cBhvr>
                                      <p:to>
                                        <p:strVal val="visible"/>
                                      </p:to>
                                    </p:set>
                                    <p:anim calcmode="lin" valueType="num">
                                      <p:cBhvr>
                                        <p:cTn id="14" dur="500" fill="hold"/>
                                        <p:tgtEl>
                                          <p:spTgt spid="29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29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29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94"/>
                                        </p:tgtEl>
                                        <p:attrNameLst>
                                          <p:attrName>style.visibility</p:attrName>
                                        </p:attrNameLst>
                                      </p:cBhvr>
                                      <p:to>
                                        <p:strVal val="visible"/>
                                      </p:to>
                                    </p:set>
                                    <p:animEffect transition="in" filter="barn(inVertical)">
                                      <p:cBhvr>
                                        <p:cTn id="21" dur="5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30"/>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9" name="Google Shape;299;p30"/>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0" name="Google Shape;300;p30"/>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1" name="Google Shape;301;p30"/>
          <p:cNvSpPr txBox="1"/>
          <p:nvPr/>
        </p:nvSpPr>
        <p:spPr>
          <a:xfrm>
            <a:off x="4512842" y="464000"/>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2" name="Google Shape;302;p30"/>
          <p:cNvSpPr txBox="1">
            <a:spLocks noGrp="1"/>
          </p:cNvSpPr>
          <p:nvPr>
            <p:ph type="body" idx="1"/>
          </p:nvPr>
        </p:nvSpPr>
        <p:spPr>
          <a:xfrm>
            <a:off x="675957" y="1278653"/>
            <a:ext cx="6816224" cy="760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sz="1600" b="1" dirty="0">
                <a:solidFill>
                  <a:srgbClr val="1B3B5C"/>
                </a:solidFill>
                <a:latin typeface="Calibri"/>
              </a:rPr>
              <a:t>Environmental variables correlate only weakly with yield and profit at the individual-farm level (all pooled |r| &lt;= 0.14).</a:t>
            </a:r>
            <a:endParaRPr dirty="0"/>
          </a:p>
        </p:txBody>
      </p:sp>
      <p:pic>
        <p:nvPicPr>
          <p:cNvPr id="303" name="Picture 302" descr="chart_04_environmental_correlation_heatmap.png"/>
          <p:cNvPicPr>
            <a:picLocks noChangeAspect="1"/>
          </p:cNvPicPr>
          <p:nvPr/>
        </p:nvPicPr>
        <p:blipFill>
          <a:blip r:embed="rId4"/>
          <a:stretch>
            <a:fillRect/>
          </a:stretch>
        </p:blipFill>
        <p:spPr>
          <a:xfrm>
            <a:off x="398206" y="2460000"/>
            <a:ext cx="4657382" cy="4300000"/>
          </a:xfrm>
          <a:prstGeom prst="rect">
            <a:avLst/>
          </a:prstGeom>
        </p:spPr>
      </p:pic>
      <p:sp>
        <p:nvSpPr>
          <p:cNvPr id="304" name="TextBox 303"/>
          <p:cNvSpPr txBox="1"/>
          <p:nvPr/>
        </p:nvSpPr>
        <p:spPr>
          <a:xfrm>
            <a:off x="5453240" y="2804129"/>
            <a:ext cx="3925418" cy="4300000"/>
          </a:xfrm>
          <a:prstGeom prst="rect">
            <a:avLst/>
          </a:prstGeom>
          <a:noFill/>
        </p:spPr>
        <p:txBody>
          <a:bodyPr wrap="square">
            <a:spAutoFit/>
          </a:bodyPr>
          <a:lstStyle/>
          <a:p>
            <a:pPr>
              <a:spcAft>
                <a:spcPts val="800"/>
              </a:spcAft>
            </a:pPr>
            <a:r>
              <a:rPr sz="1400" b="0" dirty="0">
                <a:solidFill>
                  <a:srgbClr val="222222"/>
                </a:solidFill>
                <a:latin typeface="Calibri"/>
              </a:rPr>
              <a:t>- Rainfall is the strongest single correlate (r=0.14 with profit, 0.13 with yield) -- still weak</a:t>
            </a:r>
          </a:p>
          <a:p>
            <a:pPr>
              <a:spcAft>
                <a:spcPts val="800"/>
              </a:spcAft>
            </a:pPr>
            <a:r>
              <a:rPr sz="1400" b="0" dirty="0">
                <a:solidFill>
                  <a:srgbClr val="222222"/>
                </a:solidFill>
                <a:latin typeface="Calibri"/>
              </a:rPr>
              <a:t>- Yield and Water Efficiency correlate strongly (r=0.74) by construction</a:t>
            </a:r>
          </a:p>
          <a:p>
            <a:pPr>
              <a:spcAft>
                <a:spcPts val="800"/>
              </a:spcAft>
            </a:pPr>
            <a:r>
              <a:rPr sz="1400" b="0" dirty="0">
                <a:solidFill>
                  <a:srgbClr val="222222"/>
                </a:solidFill>
                <a:latin typeface="Calibri"/>
              </a:rPr>
              <a:t>- Temperature and soil pH show ~0 relationship with either outcome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anim calcmode="lin" valueType="num">
                                      <p:cBhvr additive="base">
                                        <p:cTn id="7" dur="500"/>
                                        <p:tgtEl>
                                          <p:spTgt spid="299"/>
                                        </p:tgtEl>
                                        <p:attrNameLst>
                                          <p:attrName>ppt_w</p:attrName>
                                        </p:attrNameLst>
                                      </p:cBhvr>
                                      <p:tavLst>
                                        <p:tav tm="0">
                                          <p:val>
                                            <p:strVal val="0"/>
                                          </p:val>
                                        </p:tav>
                                        <p:tav tm="100000">
                                          <p:val>
                                            <p:strVal val="#ppt_w"/>
                                          </p:val>
                                        </p:tav>
                                      </p:tavLst>
                                    </p:anim>
                                    <p:anim calcmode="lin" valueType="num">
                                      <p:cBhvr additive="base">
                                        <p:cTn id="8" dur="500"/>
                                        <p:tgtEl>
                                          <p:spTgt spid="29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302">
                                            <p:txEl>
                                              <p:pRg st="0" end="0"/>
                                            </p:txEl>
                                          </p:spTgt>
                                        </p:tgtEl>
                                        <p:attrNameLst>
                                          <p:attrName>style.visibility</p:attrName>
                                        </p:attrNameLst>
                                      </p:cBhvr>
                                      <p:to>
                                        <p:strVal val="visible"/>
                                      </p:to>
                                    </p:set>
                                    <p:anim calcmode="lin" valueType="num">
                                      <p:cBhvr>
                                        <p:cTn id="13" dur="500" fill="hold"/>
                                        <p:tgtEl>
                                          <p:spTgt spid="302">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02">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03"/>
                                        </p:tgtEl>
                                        <p:attrNameLst>
                                          <p:attrName>style.visibility</p:attrName>
                                        </p:attrNameLst>
                                      </p:cBhvr>
                                      <p:to>
                                        <p:strVal val="visible"/>
                                      </p:to>
                                    </p:set>
                                    <p:animEffect transition="in" filter="barn(inVertical)">
                                      <p:cBhvr>
                                        <p:cTn id="20" dur="500"/>
                                        <p:tgtEl>
                                          <p:spTgt spid="303"/>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04"/>
                                        </p:tgtEl>
                                        <p:attrNameLst>
                                          <p:attrName>style.visibility</p:attrName>
                                        </p:attrNameLst>
                                      </p:cBhvr>
                                      <p:to>
                                        <p:strVal val="visible"/>
                                      </p:to>
                                    </p:set>
                                    <p:animEffect transition="in" filter="wipe(down)">
                                      <p:cBhvr>
                                        <p:cTn id="25" dur="580">
                                          <p:stCondLst>
                                            <p:cond delay="0"/>
                                          </p:stCondLst>
                                        </p:cTn>
                                        <p:tgtEl>
                                          <p:spTgt spid="304"/>
                                        </p:tgtEl>
                                      </p:cBhvr>
                                    </p:animEffect>
                                    <p:anim calcmode="lin" valueType="num">
                                      <p:cBhvr>
                                        <p:cTn id="26" dur="1822" tmFilter="0,0; 0.14,0.36; 0.43,0.73; 0.71,0.91; 1.0,1.0">
                                          <p:stCondLst>
                                            <p:cond delay="0"/>
                                          </p:stCondLst>
                                        </p:cTn>
                                        <p:tgtEl>
                                          <p:spTgt spid="30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0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0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0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04"/>
                                        </p:tgtEl>
                                        <p:attrNameLst>
                                          <p:attrName>ppt_y</p:attrName>
                                        </p:attrNameLst>
                                      </p:cBhvr>
                                      <p:tavLst>
                                        <p:tav tm="0" fmla="#ppt_y-sin(pi*$)/81">
                                          <p:val>
                                            <p:fltVal val="0"/>
                                          </p:val>
                                        </p:tav>
                                        <p:tav tm="100000">
                                          <p:val>
                                            <p:fltVal val="1"/>
                                          </p:val>
                                        </p:tav>
                                      </p:tavLst>
                                    </p:anim>
                                    <p:animScale>
                                      <p:cBhvr>
                                        <p:cTn id="31" dur="26">
                                          <p:stCondLst>
                                            <p:cond delay="650"/>
                                          </p:stCondLst>
                                        </p:cTn>
                                        <p:tgtEl>
                                          <p:spTgt spid="304"/>
                                        </p:tgtEl>
                                      </p:cBhvr>
                                      <p:to x="100000" y="60000"/>
                                    </p:animScale>
                                    <p:animScale>
                                      <p:cBhvr>
                                        <p:cTn id="32" dur="166" decel="50000">
                                          <p:stCondLst>
                                            <p:cond delay="676"/>
                                          </p:stCondLst>
                                        </p:cTn>
                                        <p:tgtEl>
                                          <p:spTgt spid="304"/>
                                        </p:tgtEl>
                                      </p:cBhvr>
                                      <p:to x="100000" y="100000"/>
                                    </p:animScale>
                                    <p:animScale>
                                      <p:cBhvr>
                                        <p:cTn id="33" dur="26">
                                          <p:stCondLst>
                                            <p:cond delay="1312"/>
                                          </p:stCondLst>
                                        </p:cTn>
                                        <p:tgtEl>
                                          <p:spTgt spid="304"/>
                                        </p:tgtEl>
                                      </p:cBhvr>
                                      <p:to x="100000" y="80000"/>
                                    </p:animScale>
                                    <p:animScale>
                                      <p:cBhvr>
                                        <p:cTn id="34" dur="166" decel="50000">
                                          <p:stCondLst>
                                            <p:cond delay="1338"/>
                                          </p:stCondLst>
                                        </p:cTn>
                                        <p:tgtEl>
                                          <p:spTgt spid="304"/>
                                        </p:tgtEl>
                                      </p:cBhvr>
                                      <p:to x="100000" y="100000"/>
                                    </p:animScale>
                                    <p:animScale>
                                      <p:cBhvr>
                                        <p:cTn id="35" dur="26">
                                          <p:stCondLst>
                                            <p:cond delay="1642"/>
                                          </p:stCondLst>
                                        </p:cTn>
                                        <p:tgtEl>
                                          <p:spTgt spid="304"/>
                                        </p:tgtEl>
                                      </p:cBhvr>
                                      <p:to x="100000" y="90000"/>
                                    </p:animScale>
                                    <p:animScale>
                                      <p:cBhvr>
                                        <p:cTn id="36" dur="166" decel="50000">
                                          <p:stCondLst>
                                            <p:cond delay="1668"/>
                                          </p:stCondLst>
                                        </p:cTn>
                                        <p:tgtEl>
                                          <p:spTgt spid="304"/>
                                        </p:tgtEl>
                                      </p:cBhvr>
                                      <p:to x="100000" y="100000"/>
                                    </p:animScale>
                                    <p:animScale>
                                      <p:cBhvr>
                                        <p:cTn id="37" dur="26">
                                          <p:stCondLst>
                                            <p:cond delay="1808"/>
                                          </p:stCondLst>
                                        </p:cTn>
                                        <p:tgtEl>
                                          <p:spTgt spid="304"/>
                                        </p:tgtEl>
                                      </p:cBhvr>
                                      <p:to x="100000" y="95000"/>
                                    </p:animScale>
                                    <p:animScale>
                                      <p:cBhvr>
                                        <p:cTn id="38" dur="166" decel="50000">
                                          <p:stCondLst>
                                            <p:cond delay="1834"/>
                                          </p:stCondLst>
                                        </p:cTn>
                                        <p:tgtEl>
                                          <p:spTgt spid="30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31"/>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8" name="Google Shape;308;p31"/>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9" name="Google Shape;309;p31"/>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0" name="Google Shape;310;p31"/>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1" name="Google Shape;311;p31"/>
          <p:cNvSpPr txBox="1">
            <a:spLocks noGrp="1"/>
          </p:cNvSpPr>
          <p:nvPr>
            <p:ph type="body" idx="1"/>
          </p:nvPr>
        </p:nvSpPr>
        <p:spPr>
          <a:xfrm>
            <a:off x="685800" y="1320000"/>
            <a:ext cx="10800000" cy="760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sz="1600" b="1" dirty="0">
                <a:solidFill>
                  <a:srgbClr val="1B3B5C"/>
                </a:solidFill>
                <a:latin typeface="Calibri"/>
              </a:rPr>
              <a:t>The Kharif &gt; Rabi &gt; Zaid profitability ranking holds by median profit in all 8 states.</a:t>
            </a:r>
            <a:endParaRPr dirty="0"/>
          </a:p>
        </p:txBody>
      </p:sp>
      <p:pic>
        <p:nvPicPr>
          <p:cNvPr id="312" name="Picture 311" descr="chart_09_profit_by_state_season_heatmap.png"/>
          <p:cNvPicPr>
            <a:picLocks noChangeAspect="1"/>
          </p:cNvPicPr>
          <p:nvPr/>
        </p:nvPicPr>
        <p:blipFill>
          <a:blip r:embed="rId4"/>
          <a:stretch>
            <a:fillRect/>
          </a:stretch>
        </p:blipFill>
        <p:spPr>
          <a:xfrm>
            <a:off x="457200" y="2260000"/>
            <a:ext cx="5323165" cy="4300000"/>
          </a:xfrm>
          <a:prstGeom prst="rect">
            <a:avLst/>
          </a:prstGeom>
        </p:spPr>
      </p:pic>
      <p:sp>
        <p:nvSpPr>
          <p:cNvPr id="313" name="TextBox 312"/>
          <p:cNvSpPr txBox="1"/>
          <p:nvPr/>
        </p:nvSpPr>
        <p:spPr>
          <a:xfrm>
            <a:off x="6017444" y="2558000"/>
            <a:ext cx="3259635" cy="4300000"/>
          </a:xfrm>
          <a:prstGeom prst="rect">
            <a:avLst/>
          </a:prstGeom>
          <a:noFill/>
        </p:spPr>
        <p:txBody>
          <a:bodyPr wrap="square">
            <a:spAutoFit/>
          </a:bodyPr>
          <a:lstStyle/>
          <a:p>
            <a:pPr>
              <a:spcAft>
                <a:spcPts val="800"/>
              </a:spcAft>
            </a:pPr>
            <a:r>
              <a:rPr sz="1400" b="0" dirty="0">
                <a:solidFill>
                  <a:srgbClr val="222222"/>
                </a:solidFill>
                <a:latin typeface="Calibri"/>
              </a:rPr>
              <a:t>- Season x State interaction is not significant (p=0.26)</a:t>
            </a:r>
          </a:p>
          <a:p>
            <a:pPr>
              <a:spcAft>
                <a:spcPts val="800"/>
              </a:spcAft>
            </a:pPr>
            <a:r>
              <a:rPr sz="1400" b="0" dirty="0">
                <a:solidFill>
                  <a:srgbClr val="222222"/>
                </a:solidFill>
                <a:latin typeface="Calibri"/>
              </a:rPr>
              <a:t>- Punjab's mean-profit exception is outlier-driven -- its median still favors Kharif</a:t>
            </a:r>
          </a:p>
          <a:p>
            <a:pPr>
              <a:spcAft>
                <a:spcPts val="800"/>
              </a:spcAft>
            </a:pPr>
            <a:r>
              <a:rPr sz="1400" b="0" dirty="0">
                <a:solidFill>
                  <a:srgbClr val="222222"/>
                </a:solidFill>
                <a:latin typeface="Calibri"/>
              </a:rPr>
              <a:t>- Seasonal guidance can be issued nationally, not state-by-state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fade">
                                      <p:cBhvr>
                                        <p:cTn id="7" dur="1000"/>
                                        <p:tgtEl>
                                          <p:spTgt spid="308"/>
                                        </p:tgtEl>
                                      </p:cBhvr>
                                    </p:animEffect>
                                    <p:anim calcmode="lin" valueType="num">
                                      <p:cBhvr>
                                        <p:cTn id="8" dur="1000" fill="hold"/>
                                        <p:tgtEl>
                                          <p:spTgt spid="308"/>
                                        </p:tgtEl>
                                        <p:attrNameLst>
                                          <p:attrName>ppt_x</p:attrName>
                                        </p:attrNameLst>
                                      </p:cBhvr>
                                      <p:tavLst>
                                        <p:tav tm="0">
                                          <p:val>
                                            <p:strVal val="#ppt_x"/>
                                          </p:val>
                                        </p:tav>
                                        <p:tav tm="100000">
                                          <p:val>
                                            <p:strVal val="#ppt_x"/>
                                          </p:val>
                                        </p:tav>
                                      </p:tavLst>
                                    </p:anim>
                                    <p:anim calcmode="lin" valueType="num">
                                      <p:cBhvr>
                                        <p:cTn id="9" dur="1000" fill="hold"/>
                                        <p:tgtEl>
                                          <p:spTgt spid="30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11">
                                            <p:txEl>
                                              <p:pRg st="0" end="0"/>
                                            </p:txEl>
                                          </p:spTgt>
                                        </p:tgtEl>
                                        <p:attrNameLst>
                                          <p:attrName>style.visibility</p:attrName>
                                        </p:attrNameLst>
                                      </p:cBhvr>
                                      <p:to>
                                        <p:strVal val="visible"/>
                                      </p:to>
                                    </p:set>
                                    <p:anim calcmode="lin" valueType="num">
                                      <p:cBhvr>
                                        <p:cTn id="14" dur="500" fill="hold"/>
                                        <p:tgtEl>
                                          <p:spTgt spid="311">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11">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12"/>
                                        </p:tgtEl>
                                        <p:attrNameLst>
                                          <p:attrName>style.visibility</p:attrName>
                                        </p:attrNameLst>
                                      </p:cBhvr>
                                      <p:to>
                                        <p:strVal val="visible"/>
                                      </p:to>
                                    </p:set>
                                    <p:animEffect transition="in" filter="barn(inVertical)">
                                      <p:cBhvr>
                                        <p:cTn id="21" dur="500"/>
                                        <p:tgtEl>
                                          <p:spTgt spid="312"/>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313"/>
                                        </p:tgtEl>
                                        <p:attrNameLst>
                                          <p:attrName>style.visibility</p:attrName>
                                        </p:attrNameLst>
                                      </p:cBhvr>
                                      <p:to>
                                        <p:strVal val="visible"/>
                                      </p:to>
                                    </p:set>
                                    <p:animEffect transition="in" filter="wipe(down)">
                                      <p:cBhvr>
                                        <p:cTn id="26" dur="580">
                                          <p:stCondLst>
                                            <p:cond delay="0"/>
                                          </p:stCondLst>
                                        </p:cTn>
                                        <p:tgtEl>
                                          <p:spTgt spid="313"/>
                                        </p:tgtEl>
                                      </p:cBhvr>
                                    </p:animEffect>
                                    <p:anim calcmode="lin" valueType="num">
                                      <p:cBhvr>
                                        <p:cTn id="27" dur="1822" tmFilter="0,0; 0.14,0.36; 0.43,0.73; 0.71,0.91; 1.0,1.0">
                                          <p:stCondLst>
                                            <p:cond delay="0"/>
                                          </p:stCondLst>
                                        </p:cTn>
                                        <p:tgtEl>
                                          <p:spTgt spid="313"/>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313"/>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313"/>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313"/>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313"/>
                                        </p:tgtEl>
                                        <p:attrNameLst>
                                          <p:attrName>ppt_y</p:attrName>
                                        </p:attrNameLst>
                                      </p:cBhvr>
                                      <p:tavLst>
                                        <p:tav tm="0" fmla="#ppt_y-sin(pi*$)/81">
                                          <p:val>
                                            <p:fltVal val="0"/>
                                          </p:val>
                                        </p:tav>
                                        <p:tav tm="100000">
                                          <p:val>
                                            <p:fltVal val="1"/>
                                          </p:val>
                                        </p:tav>
                                      </p:tavLst>
                                    </p:anim>
                                    <p:animScale>
                                      <p:cBhvr>
                                        <p:cTn id="32" dur="26">
                                          <p:stCondLst>
                                            <p:cond delay="650"/>
                                          </p:stCondLst>
                                        </p:cTn>
                                        <p:tgtEl>
                                          <p:spTgt spid="313"/>
                                        </p:tgtEl>
                                      </p:cBhvr>
                                      <p:to x="100000" y="60000"/>
                                    </p:animScale>
                                    <p:animScale>
                                      <p:cBhvr>
                                        <p:cTn id="33" dur="166" decel="50000">
                                          <p:stCondLst>
                                            <p:cond delay="676"/>
                                          </p:stCondLst>
                                        </p:cTn>
                                        <p:tgtEl>
                                          <p:spTgt spid="313"/>
                                        </p:tgtEl>
                                      </p:cBhvr>
                                      <p:to x="100000" y="100000"/>
                                    </p:animScale>
                                    <p:animScale>
                                      <p:cBhvr>
                                        <p:cTn id="34" dur="26">
                                          <p:stCondLst>
                                            <p:cond delay="1312"/>
                                          </p:stCondLst>
                                        </p:cTn>
                                        <p:tgtEl>
                                          <p:spTgt spid="313"/>
                                        </p:tgtEl>
                                      </p:cBhvr>
                                      <p:to x="100000" y="80000"/>
                                    </p:animScale>
                                    <p:animScale>
                                      <p:cBhvr>
                                        <p:cTn id="35" dur="166" decel="50000">
                                          <p:stCondLst>
                                            <p:cond delay="1338"/>
                                          </p:stCondLst>
                                        </p:cTn>
                                        <p:tgtEl>
                                          <p:spTgt spid="313"/>
                                        </p:tgtEl>
                                      </p:cBhvr>
                                      <p:to x="100000" y="100000"/>
                                    </p:animScale>
                                    <p:animScale>
                                      <p:cBhvr>
                                        <p:cTn id="36" dur="26">
                                          <p:stCondLst>
                                            <p:cond delay="1642"/>
                                          </p:stCondLst>
                                        </p:cTn>
                                        <p:tgtEl>
                                          <p:spTgt spid="313"/>
                                        </p:tgtEl>
                                      </p:cBhvr>
                                      <p:to x="100000" y="90000"/>
                                    </p:animScale>
                                    <p:animScale>
                                      <p:cBhvr>
                                        <p:cTn id="37" dur="166" decel="50000">
                                          <p:stCondLst>
                                            <p:cond delay="1668"/>
                                          </p:stCondLst>
                                        </p:cTn>
                                        <p:tgtEl>
                                          <p:spTgt spid="313"/>
                                        </p:tgtEl>
                                      </p:cBhvr>
                                      <p:to x="100000" y="100000"/>
                                    </p:animScale>
                                    <p:animScale>
                                      <p:cBhvr>
                                        <p:cTn id="38" dur="26">
                                          <p:stCondLst>
                                            <p:cond delay="1808"/>
                                          </p:stCondLst>
                                        </p:cTn>
                                        <p:tgtEl>
                                          <p:spTgt spid="313"/>
                                        </p:tgtEl>
                                      </p:cBhvr>
                                      <p:to x="100000" y="95000"/>
                                    </p:animScale>
                                    <p:animScale>
                                      <p:cBhvr>
                                        <p:cTn id="39" dur="166" decel="50000">
                                          <p:stCondLst>
                                            <p:cond delay="1834"/>
                                          </p:stCondLst>
                                        </p:cTn>
                                        <p:tgtEl>
                                          <p:spTgt spid="3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 grpId="0" build="p"/>
      <p:bldP spid="3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32"/>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17" name="Google Shape;317;p32"/>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8" name="Google Shape;318;p32"/>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9" name="Google Shape;319;p32"/>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0" name="Google Shape;320;p32"/>
          <p:cNvSpPr txBox="1">
            <a:spLocks noGrp="1"/>
          </p:cNvSpPr>
          <p:nvPr>
            <p:ph type="body" idx="1"/>
          </p:nvPr>
        </p:nvSpPr>
        <p:spPr>
          <a:xfrm>
            <a:off x="685800" y="1320000"/>
            <a:ext cx="10800000" cy="760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sz="1600" b="1" dirty="0">
                <a:solidFill>
                  <a:srgbClr val="1B3B5C"/>
                </a:solidFill>
                <a:latin typeface="Calibri"/>
              </a:rPr>
              <a:t>Crop choice -- not season -- is the dominant driver of outcomes: it explains 36.3% of profit variance and 81.9% of yield variance, versus just 3.2% and 1.2% for season.</a:t>
            </a:r>
            <a:endParaRPr dirty="0"/>
          </a:p>
        </p:txBody>
      </p:sp>
      <p:pic>
        <p:nvPicPr>
          <p:cNvPr id="321" name="Picture 320" descr="chart_07_variance_explained_season_vs_crop.png"/>
          <p:cNvPicPr>
            <a:picLocks noChangeAspect="1"/>
          </p:cNvPicPr>
          <p:nvPr/>
        </p:nvPicPr>
        <p:blipFill>
          <a:blip r:embed="rId4"/>
          <a:stretch>
            <a:fillRect/>
          </a:stretch>
        </p:blipFill>
        <p:spPr>
          <a:xfrm>
            <a:off x="457200" y="2260000"/>
            <a:ext cx="8560000" cy="38664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1000"/>
                                        <p:tgtEl>
                                          <p:spTgt spid="317"/>
                                        </p:tgtEl>
                                      </p:cBhvr>
                                    </p:animEffect>
                                    <p:anim calcmode="lin" valueType="num">
                                      <p:cBhvr>
                                        <p:cTn id="8" dur="1000" fill="hold"/>
                                        <p:tgtEl>
                                          <p:spTgt spid="317"/>
                                        </p:tgtEl>
                                        <p:attrNameLst>
                                          <p:attrName>ppt_x</p:attrName>
                                        </p:attrNameLst>
                                      </p:cBhvr>
                                      <p:tavLst>
                                        <p:tav tm="0">
                                          <p:val>
                                            <p:strVal val="#ppt_x"/>
                                          </p:val>
                                        </p:tav>
                                        <p:tav tm="100000">
                                          <p:val>
                                            <p:strVal val="#ppt_x"/>
                                          </p:val>
                                        </p:tav>
                                      </p:tavLst>
                                    </p:anim>
                                    <p:anim calcmode="lin" valueType="num">
                                      <p:cBhvr>
                                        <p:cTn id="9" dur="1000" fill="hold"/>
                                        <p:tgtEl>
                                          <p:spTgt spid="3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20">
                                            <p:txEl>
                                              <p:pRg st="0" end="0"/>
                                            </p:txEl>
                                          </p:spTgt>
                                        </p:tgtEl>
                                        <p:attrNameLst>
                                          <p:attrName>style.visibility</p:attrName>
                                        </p:attrNameLst>
                                      </p:cBhvr>
                                      <p:to>
                                        <p:strVal val="visible"/>
                                      </p:to>
                                    </p:set>
                                    <p:anim calcmode="lin" valueType="num">
                                      <p:cBhvr>
                                        <p:cTn id="14" dur="500" fill="hold"/>
                                        <p:tgtEl>
                                          <p:spTgt spid="32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2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2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21"/>
                                        </p:tgtEl>
                                        <p:attrNameLst>
                                          <p:attrName>style.visibility</p:attrName>
                                        </p:attrNameLst>
                                      </p:cBhvr>
                                      <p:to>
                                        <p:strVal val="visible"/>
                                      </p:to>
                                    </p:set>
                                    <p:animEffect transition="in" filter="barn(inVertical)">
                                      <p:cBhvr>
                                        <p:cTn id="21" dur="5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26" name="Google Shape;326;p33"/>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Future scope</a:t>
            </a:r>
            <a:endParaRPr/>
          </a:p>
        </p:txBody>
      </p:sp>
      <p:sp>
        <p:nvSpPr>
          <p:cNvPr id="327" name="Google Shape;327;p33"/>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8" name="Google Shape;328;p33"/>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9" name="TextBox 328"/>
          <p:cNvSpPr txBox="1"/>
          <p:nvPr/>
        </p:nvSpPr>
        <p:spPr>
          <a:xfrm>
            <a:off x="675957" y="2146078"/>
            <a:ext cx="8064920" cy="3426579"/>
          </a:xfrm>
          <a:prstGeom prst="rect">
            <a:avLst/>
          </a:prstGeom>
          <a:noFill/>
        </p:spPr>
        <p:txBody>
          <a:bodyPr wrap="square">
            <a:spAutoFit/>
          </a:bodyPr>
          <a:lstStyle/>
          <a:p>
            <a:pPr>
              <a:spcAft>
                <a:spcPts val="1400"/>
              </a:spcAft>
            </a:pPr>
            <a:r>
              <a:rPr sz="1700" b="0" dirty="0">
                <a:solidFill>
                  <a:srgbClr val="222222"/>
                </a:solidFill>
                <a:latin typeface="Calibri"/>
              </a:rPr>
              <a:t>-  Treat Zaid as a distinct higher-risk season in credit/insurance design -- it has the highest loss rate of any season (64.5% of farms unprofitable).</a:t>
            </a:r>
          </a:p>
          <a:p>
            <a:pPr>
              <a:spcAft>
                <a:spcPts val="1400"/>
              </a:spcAft>
            </a:pPr>
            <a:r>
              <a:rPr sz="1700" b="0" dirty="0">
                <a:solidFill>
                  <a:srgbClr val="222222"/>
                </a:solidFill>
                <a:latin typeface="Calibri"/>
              </a:rPr>
              <a:t>-  Target water-use-efficiency programs (drip/sprinkler, irrigation scheduling) at Zaid first -- it combines the highest water use with the lowest water efficiency.</a:t>
            </a:r>
          </a:p>
          <a:p>
            <a:pPr>
              <a:spcAft>
                <a:spcPts val="1400"/>
              </a:spcAft>
            </a:pPr>
            <a:r>
              <a:rPr sz="1700" b="0" dirty="0">
                <a:solidFill>
                  <a:srgbClr val="222222"/>
                </a:solidFill>
                <a:latin typeface="Calibri"/>
              </a:rPr>
              <a:t>-  Lead extension advice with crop economics: crop choice explains far more outcome variance than season (81.9% vs 1.2% of yield variance).</a:t>
            </a:r>
          </a:p>
          <a:p>
            <a:pPr>
              <a:spcAft>
                <a:spcPts val="1400"/>
              </a:spcAft>
            </a:pPr>
            <a:r>
              <a:rPr sz="1700" b="0" dirty="0">
                <a:solidFill>
                  <a:srgbClr val="222222"/>
                </a:solidFill>
                <a:latin typeface="Calibri"/>
              </a:rPr>
              <a:t>-  Protect, don't discourage, Kharif planting -- its disease/pest risk is the highest of any season, yet it remains the most profitable.</a:t>
            </a:r>
          </a:p>
          <a:p>
            <a:pPr>
              <a:spcAft>
                <a:spcPts val="1400"/>
              </a:spcAft>
            </a:pPr>
            <a:r>
              <a:rPr sz="1700" b="0" dirty="0">
                <a:solidFill>
                  <a:srgbClr val="222222"/>
                </a:solidFill>
                <a:latin typeface="Calibri"/>
              </a:rPr>
              <a:t>-  Extend to multi-year panel data and a predictive model to test how much season adds once crop and region are already known.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1000"/>
                                        <p:tgtEl>
                                          <p:spTgt spid="326"/>
                                        </p:tgtEl>
                                      </p:cBhvr>
                                    </p:animEffect>
                                    <p:anim calcmode="lin" valueType="num">
                                      <p:cBhvr>
                                        <p:cTn id="8" dur="1000" fill="hold"/>
                                        <p:tgtEl>
                                          <p:spTgt spid="326"/>
                                        </p:tgtEl>
                                        <p:attrNameLst>
                                          <p:attrName>ppt_x</p:attrName>
                                        </p:attrNameLst>
                                      </p:cBhvr>
                                      <p:tavLst>
                                        <p:tav tm="0">
                                          <p:val>
                                            <p:strVal val="#ppt_x"/>
                                          </p:val>
                                        </p:tav>
                                        <p:tav tm="100000">
                                          <p:val>
                                            <p:strVal val="#ppt_x"/>
                                          </p:val>
                                        </p:tav>
                                      </p:tavLst>
                                    </p:anim>
                                    <p:anim calcmode="lin" valueType="num">
                                      <p:cBhvr>
                                        <p:cTn id="9" dur="1000" fill="hold"/>
                                        <p:tgtEl>
                                          <p:spTgt spid="3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29"/>
                                        </p:tgtEl>
                                        <p:attrNameLst>
                                          <p:attrName>style.visibility</p:attrName>
                                        </p:attrNameLst>
                                      </p:cBhvr>
                                      <p:to>
                                        <p:strVal val="visible"/>
                                      </p:to>
                                    </p:set>
                                    <p:animEffect transition="in" filter="wipe(down)">
                                      <p:cBhvr>
                                        <p:cTn id="14" dur="5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4"/>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34" name="Google Shape;334;p34"/>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GitHub Link</a:t>
            </a:r>
            <a:endParaRPr/>
          </a:p>
        </p:txBody>
      </p:sp>
      <p:sp>
        <p:nvSpPr>
          <p:cNvPr id="335" name="Google Shape;335;p34"/>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36" name="Google Shape;336;p34"/>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37" name="Google Shape;337;p34"/>
          <p:cNvSpPr txBox="1"/>
          <p:nvPr/>
        </p:nvSpPr>
        <p:spPr>
          <a:xfrm>
            <a:off x="675957" y="2138409"/>
            <a:ext cx="5842830" cy="707846"/>
          </a:xfrm>
          <a:prstGeom prst="rect">
            <a:avLst/>
          </a:prstGeom>
          <a:noFill/>
          <a:ln>
            <a:noFill/>
          </a:ln>
        </p:spPr>
        <p:txBody>
          <a:bodyPr spcFirstLastPara="1" wrap="square" lIns="91425" tIns="45700" rIns="91425" bIns="45700" anchor="t" anchorCtr="0">
            <a:spAutoFit/>
          </a:bodyPr>
          <a:lstStyle/>
          <a:p>
            <a:pPr lvl="0"/>
            <a:r>
              <a:rPr lang="en-US" sz="2000" b="1" dirty="0">
                <a:solidFill>
                  <a:srgbClr val="B00000"/>
                </a:solidFill>
                <a:latin typeface="Calibri"/>
                <a:ea typeface="Trebuchet MS"/>
                <a:cs typeface="Trebuchet MS"/>
                <a:sym typeface="Trebuchet MS"/>
              </a:rPr>
              <a:t>https://github.com/maykrishhoon/Seasonal-Agriculture-Performance-Analysis.git</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1000"/>
                                        <p:tgtEl>
                                          <p:spTgt spid="334"/>
                                        </p:tgtEl>
                                      </p:cBhvr>
                                    </p:animEffect>
                                    <p:anim calcmode="lin" valueType="num">
                                      <p:cBhvr>
                                        <p:cTn id="8" dur="1000" fill="hold"/>
                                        <p:tgtEl>
                                          <p:spTgt spid="334"/>
                                        </p:tgtEl>
                                        <p:attrNameLst>
                                          <p:attrName>ppt_x</p:attrName>
                                        </p:attrNameLst>
                                      </p:cBhvr>
                                      <p:tavLst>
                                        <p:tav tm="0">
                                          <p:val>
                                            <p:strVal val="#ppt_x"/>
                                          </p:val>
                                        </p:tav>
                                        <p:tav tm="100000">
                                          <p:val>
                                            <p:strVal val="#ppt_x"/>
                                          </p:val>
                                        </p:tav>
                                      </p:tavLst>
                                    </p:anim>
                                    <p:anim calcmode="lin" valueType="num">
                                      <p:cBhvr>
                                        <p:cTn id="9" dur="1000" fill="hold"/>
                                        <p:tgtEl>
                                          <p:spTgt spid="3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37"/>
                                        </p:tgtEl>
                                        <p:attrNameLst>
                                          <p:attrName>style.visibility</p:attrName>
                                        </p:attrNameLst>
                                      </p:cBhvr>
                                      <p:to>
                                        <p:strVal val="visible"/>
                                      </p:to>
                                    </p:set>
                                    <p:anim calcmode="lin" valueType="num">
                                      <p:cBhvr>
                                        <p:cTn id="14" dur="1000" fill="hold"/>
                                        <p:tgtEl>
                                          <p:spTgt spid="337"/>
                                        </p:tgtEl>
                                        <p:attrNameLst>
                                          <p:attrName>ppt_w</p:attrName>
                                        </p:attrNameLst>
                                      </p:cBhvr>
                                      <p:tavLst>
                                        <p:tav tm="0">
                                          <p:val>
                                            <p:fltVal val="0"/>
                                          </p:val>
                                        </p:tav>
                                        <p:tav tm="100000">
                                          <p:val>
                                            <p:strVal val="#ppt_w"/>
                                          </p:val>
                                        </p:tav>
                                      </p:tavLst>
                                    </p:anim>
                                    <p:anim calcmode="lin" valueType="num">
                                      <p:cBhvr>
                                        <p:cTn id="15" dur="1000" fill="hold"/>
                                        <p:tgtEl>
                                          <p:spTgt spid="337"/>
                                        </p:tgtEl>
                                        <p:attrNameLst>
                                          <p:attrName>ppt_h</p:attrName>
                                        </p:attrNameLst>
                                      </p:cBhvr>
                                      <p:tavLst>
                                        <p:tav tm="0">
                                          <p:val>
                                            <p:fltVal val="0"/>
                                          </p:val>
                                        </p:tav>
                                        <p:tav tm="100000">
                                          <p:val>
                                            <p:strVal val="#ppt_h"/>
                                          </p:val>
                                        </p:tav>
                                      </p:tavLst>
                                    </p:anim>
                                    <p:anim calcmode="lin" valueType="num">
                                      <p:cBhvr>
                                        <p:cTn id="16" dur="1000" fill="hold"/>
                                        <p:tgtEl>
                                          <p:spTgt spid="337"/>
                                        </p:tgtEl>
                                        <p:attrNameLst>
                                          <p:attrName>style.rotation</p:attrName>
                                        </p:attrNameLst>
                                      </p:cBhvr>
                                      <p:tavLst>
                                        <p:tav tm="0">
                                          <p:val>
                                            <p:fltVal val="90"/>
                                          </p:val>
                                        </p:tav>
                                        <p:tav tm="100000">
                                          <p:val>
                                            <p:fltVal val="0"/>
                                          </p:val>
                                        </p:tav>
                                      </p:tavLst>
                                    </p:anim>
                                    <p:animEffect transition="in" filter="fade">
                                      <p:cBhvr>
                                        <p:cTn id="17"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3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43" name="Google Shape;343;p35"/>
          <p:cNvSpPr txBox="1">
            <a:spLocks noGrp="1"/>
          </p:cNvSpPr>
          <p:nvPr>
            <p:ph type="title"/>
          </p:nvPr>
        </p:nvSpPr>
        <p:spPr>
          <a:xfrm>
            <a:off x="675957" y="370589"/>
            <a:ext cx="8351400" cy="884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44" name="Google Shape;344;p35"/>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45" name="Google Shape;345;p35"/>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graphicFrame>
        <p:nvGraphicFramePr>
          <p:cNvPr id="2" name="Object 1">
            <a:extLst>
              <a:ext uri="{FF2B5EF4-FFF2-40B4-BE49-F238E27FC236}">
                <a16:creationId xmlns:a16="http://schemas.microsoft.com/office/drawing/2014/main" id="{F354C6F6-1A8A-1D9A-D7F5-182B54A7475A}"/>
              </a:ext>
            </a:extLst>
          </p:cNvPr>
          <p:cNvGraphicFramePr>
            <a:graphicFrameLocks noChangeAspect="1"/>
          </p:cNvGraphicFramePr>
          <p:nvPr>
            <p:extLst>
              <p:ext uri="{D42A27DB-BD31-4B8C-83A1-F6EECF244321}">
                <p14:modId xmlns:p14="http://schemas.microsoft.com/office/powerpoint/2010/main" val="134369866"/>
              </p:ext>
            </p:extLst>
          </p:nvPr>
        </p:nvGraphicFramePr>
        <p:xfrm>
          <a:off x="825909" y="1658843"/>
          <a:ext cx="7580671" cy="4828567"/>
        </p:xfrm>
        <a:graphic>
          <a:graphicData uri="http://schemas.openxmlformats.org/presentationml/2006/ole">
            <mc:AlternateContent xmlns:mc="http://schemas.openxmlformats.org/markup-compatibility/2006">
              <mc:Choice xmlns:v="urn:schemas-microsoft-com:vml" Requires="v">
                <p:oleObj name="PDF" r:id="rId4" imgW="0" imgH="360" progId="FoxitReader.Document">
                  <p:embed/>
                </p:oleObj>
              </mc:Choice>
              <mc:Fallback>
                <p:oleObj name="PDF" r:id="rId4" imgW="0" imgH="360" progId="FoxitReader.Document">
                  <p:embed/>
                  <p:pic>
                    <p:nvPicPr>
                      <p:cNvPr id="0" name=""/>
                      <p:cNvPicPr/>
                      <p:nvPr/>
                    </p:nvPicPr>
                    <p:blipFill>
                      <a:blip r:embed="rId5"/>
                      <a:stretch>
                        <a:fillRect/>
                      </a:stretch>
                    </p:blipFill>
                    <p:spPr>
                      <a:xfrm>
                        <a:off x="825909" y="1658843"/>
                        <a:ext cx="7580671" cy="4828567"/>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1000"/>
                                        <p:tgtEl>
                                          <p:spTgt spid="343"/>
                                        </p:tgtEl>
                                      </p:cBhvr>
                                    </p:animEffect>
                                    <p:anim calcmode="lin" valueType="num">
                                      <p:cBhvr>
                                        <p:cTn id="8" dur="1000" fill="hold"/>
                                        <p:tgtEl>
                                          <p:spTgt spid="343"/>
                                        </p:tgtEl>
                                        <p:attrNameLst>
                                          <p:attrName>ppt_x</p:attrName>
                                        </p:attrNameLst>
                                      </p:cBhvr>
                                      <p:tavLst>
                                        <p:tav tm="0">
                                          <p:val>
                                            <p:strVal val="#ppt_x"/>
                                          </p:val>
                                        </p:tav>
                                        <p:tav tm="100000">
                                          <p:val>
                                            <p:strVal val="#ppt_x"/>
                                          </p:val>
                                        </p:tav>
                                      </p:tavLst>
                                    </p:anim>
                                    <p:anim calcmode="lin" valueType="num">
                                      <p:cBhvr>
                                        <p:cTn id="9" dur="1000" fill="hold"/>
                                        <p:tgtEl>
                                          <p:spTgt spid="34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type="title"/>
          </p:nvPr>
        </p:nvSpPr>
        <p:spPr>
          <a:xfrm>
            <a:off x="544140" y="1662005"/>
            <a:ext cx="9618736" cy="297992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Trebuchet MS"/>
              <a:buNone/>
            </a:pPr>
            <a:r>
              <a:rPr lang="en-US" sz="7200" b="1" dirty="0">
                <a:solidFill>
                  <a:schemeClr val="dk1"/>
                </a:solidFill>
              </a:rPr>
              <a:t>Thank you</a:t>
            </a:r>
            <a:endParaRPr sz="7200" dirty="0"/>
          </a:p>
        </p:txBody>
      </p:sp>
      <p:sp>
        <p:nvSpPr>
          <p:cNvPr id="351" name="Google Shape;351;p36"/>
          <p:cNvSpPr txBox="1">
            <a:spLocks noGrp="1"/>
          </p:cNvSpPr>
          <p:nvPr>
            <p:ph type="body" idx="8"/>
          </p:nvPr>
        </p:nvSpPr>
        <p:spPr>
          <a:xfrm>
            <a:off x="3727865" y="4641925"/>
            <a:ext cx="2139600" cy="1108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a:p>
        </p:txBody>
      </p:sp>
      <p:sp>
        <p:nvSpPr>
          <p:cNvPr id="352" name="Google Shape;352;p36"/>
          <p:cNvSpPr txBox="1"/>
          <p:nvPr/>
        </p:nvSpPr>
        <p:spPr>
          <a:xfrm>
            <a:off x="1448313" y="4641925"/>
            <a:ext cx="2596500" cy="4539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a:ea typeface="Trebuchet MS"/>
              <a:cs typeface="Trebuchet MS"/>
              <a:sym typeface="Trebuchet MS"/>
            </a:endParaRPr>
          </a:p>
        </p:txBody>
      </p:sp>
      <p:sp>
        <p:nvSpPr>
          <p:cNvPr id="353" name="Google Shape;353;p36"/>
          <p:cNvSpPr txBox="1"/>
          <p:nvPr/>
        </p:nvSpPr>
        <p:spPr>
          <a:xfrm>
            <a:off x="5353508" y="3962573"/>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4" name="Google Shape;354;p36"/>
          <p:cNvSpPr txBox="1"/>
          <p:nvPr/>
        </p:nvSpPr>
        <p:spPr>
          <a:xfrm>
            <a:off x="7789163" y="3962572"/>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5" name="Google Shape;355;p36"/>
          <p:cNvSpPr txBox="1"/>
          <p:nvPr/>
        </p:nvSpPr>
        <p:spPr>
          <a:xfrm>
            <a:off x="6096000"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a:ea typeface="Trebuchet MS"/>
              <a:cs typeface="Trebuchet MS"/>
              <a:sym typeface="Trebuchet MS"/>
            </a:endParaRPr>
          </a:p>
        </p:txBody>
      </p:sp>
      <p:sp>
        <p:nvSpPr>
          <p:cNvPr id="356" name="Google Shape;356;p36"/>
          <p:cNvSpPr txBox="1"/>
          <p:nvPr/>
        </p:nvSpPr>
        <p:spPr>
          <a:xfrm>
            <a:off x="8591363"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57" name="Google Shape;357;p36"/>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58" name="Google Shape;358;p36"/>
          <p:cNvSpPr txBox="1">
            <a:spLocks noGrp="1"/>
          </p:cNvSpPr>
          <p:nvPr>
            <p:ph type="body" idx="7"/>
          </p:nvPr>
        </p:nvSpPr>
        <p:spPr>
          <a:xfrm>
            <a:off x="2975013" y="3962573"/>
            <a:ext cx="2139600" cy="3444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SzPct val="800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3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762</Words>
  <Application>Microsoft Office PowerPoint</Application>
  <PresentationFormat>Widescreen</PresentationFormat>
  <Paragraphs>50</Paragraphs>
  <Slides>14</Slides>
  <Notes>14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0" baseType="lpstr">
      <vt:lpstr>Arial</vt:lpstr>
      <vt:lpstr>Calibri</vt:lpstr>
      <vt:lpstr>Noto Sans Symbols</vt:lpstr>
      <vt:lpstr>Trebuchet MS</vt:lpstr>
      <vt:lpstr>Facet</vt:lpstr>
      <vt:lpstr>Foxit PDF Document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Vansh G</cp:lastModifiedBy>
  <cp:revision>1</cp:revision>
  <dcterms:modified xsi:type="dcterms:W3CDTF">2026-09-13T11:17:25Z</dcterms:modified>
</cp:coreProperties>
</file>